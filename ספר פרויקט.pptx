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70" r:id="rId2"/>
    <p:sldId id="268" r:id="rId3"/>
    <p:sldId id="258" r:id="rId4"/>
    <p:sldId id="259" r:id="rId5"/>
    <p:sldId id="271" r:id="rId6"/>
    <p:sldId id="266" r:id="rId7"/>
    <p:sldId id="265" r:id="rId8"/>
    <p:sldId id="260" r:id="rId9"/>
    <p:sldId id="262" r:id="rId10"/>
    <p:sldId id="263" r:id="rId11"/>
    <p:sldId id="264" r:id="rId12"/>
    <p:sldId id="269" r:id="rId1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2B93"/>
    <a:srgbClr val="F9E5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114" d="100"/>
          <a:sy n="114" d="100"/>
        </p:scale>
        <p:origin x="47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93F365-C371-FF5F-C12F-977154BE9A56}"/>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DC2023C8-6451-A7D0-7542-59FC831F21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CD6A383-7C1C-7551-B0F9-F5F1777FF25B}"/>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5" name="מציין מיקום של כותרת תחתונה 4">
            <a:extLst>
              <a:ext uri="{FF2B5EF4-FFF2-40B4-BE49-F238E27FC236}">
                <a16:creationId xmlns:a16="http://schemas.microsoft.com/office/drawing/2014/main" id="{158A716A-17D4-09EA-8C9E-2EBF01E4E6C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7C59ECE-CCE0-99A9-D229-8E2F699AB663}"/>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2944576258"/>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C89B80E-4E0D-D839-25E0-E62C671B388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4663C9A-3264-174A-89EA-D0ADF75ECE6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6F92B1C-663E-56AA-5006-82CBA4C36325}"/>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5" name="מציין מיקום של כותרת תחתונה 4">
            <a:extLst>
              <a:ext uri="{FF2B5EF4-FFF2-40B4-BE49-F238E27FC236}">
                <a16:creationId xmlns:a16="http://schemas.microsoft.com/office/drawing/2014/main" id="{C6B9969D-BBC3-9073-1ED3-41BF1653D07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CC0530D-2361-2FEC-8DE2-1BC7723B243A}"/>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318106948"/>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878A5B-7432-1DDB-C0FE-6BE2DFFA3A16}"/>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5106F45-AF4E-1959-4E66-60AB5E7408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CDA091B2-2EE2-84AF-88FA-2032E3B616B8}"/>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5" name="מציין מיקום של כותרת תחתונה 4">
            <a:extLst>
              <a:ext uri="{FF2B5EF4-FFF2-40B4-BE49-F238E27FC236}">
                <a16:creationId xmlns:a16="http://schemas.microsoft.com/office/drawing/2014/main" id="{D3BB8B76-DD06-89ED-D1CD-86BCCF44220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DE26F9A-6AC3-F466-99D6-7FB8765498FC}"/>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620936488"/>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3E2429-42DD-A38E-CDA8-146C79407F4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CD351B3-F4DB-50A4-F451-5A3415ED2211}"/>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DB54EA28-7DB4-AFAC-5EA3-A128318B4784}"/>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08F3F3DD-F1D3-AA42-CE32-ECB5718E2A16}"/>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6" name="מציין מיקום של כותרת תחתונה 5">
            <a:extLst>
              <a:ext uri="{FF2B5EF4-FFF2-40B4-BE49-F238E27FC236}">
                <a16:creationId xmlns:a16="http://schemas.microsoft.com/office/drawing/2014/main" id="{7298EF40-EAEA-B4EA-224F-23E2EFA0179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AF4A4F2-E74A-FDDE-CF21-AD43737EFB31}"/>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2831481654"/>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11E202-32C4-D575-4F31-002C55AC59E1}"/>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9791BFF-E245-1CCC-EA18-8F9E881EB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72311DF9-5C18-B321-9434-914B6F2E10B7}"/>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5770F8A8-1591-5D06-3D78-C4DF8FF20A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473B9F5D-1528-2CD2-0821-FB0D9B87439A}"/>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5E5045A-4A00-B1F1-CF72-842F1702E0AA}"/>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8" name="מציין מיקום של כותרת תחתונה 7">
            <a:extLst>
              <a:ext uri="{FF2B5EF4-FFF2-40B4-BE49-F238E27FC236}">
                <a16:creationId xmlns:a16="http://schemas.microsoft.com/office/drawing/2014/main" id="{74FA9B98-97AB-7701-AE8B-5A9F7FCD5AC2}"/>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18767AFE-407C-218E-E070-28D18312F765}"/>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1894637843"/>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B38B3C8-3049-BF0F-C2A1-CF0A6C51003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D653D98-2E04-291D-D08F-A3A91605FE5B}"/>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4" name="מציין מיקום של כותרת תחתונה 3">
            <a:extLst>
              <a:ext uri="{FF2B5EF4-FFF2-40B4-BE49-F238E27FC236}">
                <a16:creationId xmlns:a16="http://schemas.microsoft.com/office/drawing/2014/main" id="{D322EA45-9DFC-CBE7-B448-A2577EC9B3A0}"/>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76578561-4B21-F803-1718-862DF2BF4317}"/>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3009310341"/>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1C7F5D96-7DCF-5E6A-300E-0351723FB4C3}"/>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3" name="מציין מיקום של כותרת תחתונה 2">
            <a:extLst>
              <a:ext uri="{FF2B5EF4-FFF2-40B4-BE49-F238E27FC236}">
                <a16:creationId xmlns:a16="http://schemas.microsoft.com/office/drawing/2014/main" id="{1A167C79-A973-F9D8-A621-E1C50F141FD1}"/>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AEBA758B-A4F3-50E2-1B0A-DE54095FDE75}"/>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3800482185"/>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2AE65BB-A90A-9B4C-E59B-2C23AB811B8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123F686-1446-122F-CC0C-60277052A3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2574503C-6B04-3BE0-F73C-C1700858AE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467C27EB-932E-3D69-3A2A-CBAEF4BDF7E6}"/>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6" name="מציין מיקום של כותרת תחתונה 5">
            <a:extLst>
              <a:ext uri="{FF2B5EF4-FFF2-40B4-BE49-F238E27FC236}">
                <a16:creationId xmlns:a16="http://schemas.microsoft.com/office/drawing/2014/main" id="{7C0AF964-3DD9-2B9C-907F-F84D10C35D6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8187537F-6D7D-297A-C427-32FF2AAFEED3}"/>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3116994695"/>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D04B67-68A2-DA94-C8CB-C16D4ED0ED9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48CBBC5C-390F-F6CA-E8E4-D70F93E438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1179A5D1-3011-CA0E-A3DF-87AC3591BC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2DE16EF-4F71-47CF-F1FD-CC85B1CA863A}"/>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6" name="מציין מיקום של כותרת תחתונה 5">
            <a:extLst>
              <a:ext uri="{FF2B5EF4-FFF2-40B4-BE49-F238E27FC236}">
                <a16:creationId xmlns:a16="http://schemas.microsoft.com/office/drawing/2014/main" id="{FB73FC0E-8C0E-952D-7E59-54DCEE1E619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92750DC-1035-F9DB-420C-CD589EF0A4B1}"/>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526189915"/>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E09C89-D538-DD11-8B3D-5AA6E6F6D9E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93A8D94-60E7-E2BE-C5F2-1F32E015566F}"/>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E476891-55B2-52D5-F45C-DD3BE44CCC41}"/>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5" name="מציין מיקום של כותרת תחתונה 4">
            <a:extLst>
              <a:ext uri="{FF2B5EF4-FFF2-40B4-BE49-F238E27FC236}">
                <a16:creationId xmlns:a16="http://schemas.microsoft.com/office/drawing/2014/main" id="{01E70857-CE0A-48D4-3162-B2FA516A578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0C2F8AC-79F3-66E2-A2D9-CB3AC214ED71}"/>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3448500064"/>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349247CC-E75E-29FB-89AA-120E4B5664E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369E4EA-018A-91FB-2EFB-99A648B93770}"/>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F3A4656-7E2C-2894-D6F6-21A6E0FB2BD5}"/>
              </a:ext>
            </a:extLst>
          </p:cNvPr>
          <p:cNvSpPr>
            <a:spLocks noGrp="1"/>
          </p:cNvSpPr>
          <p:nvPr>
            <p:ph type="dt" sz="half" idx="10"/>
          </p:nvPr>
        </p:nvSpPr>
        <p:spPr/>
        <p:txBody>
          <a:bodyPr/>
          <a:lstStyle/>
          <a:p>
            <a:fld id="{BA06A09C-A0A1-4D70-AE2B-34C0F3FE9672}" type="datetimeFigureOut">
              <a:rPr lang="he-IL" smtClean="0"/>
              <a:t>ד'/אב/תשפ"ה</a:t>
            </a:fld>
            <a:endParaRPr lang="he-IL"/>
          </a:p>
        </p:txBody>
      </p:sp>
      <p:sp>
        <p:nvSpPr>
          <p:cNvPr id="5" name="מציין מיקום של כותרת תחתונה 4">
            <a:extLst>
              <a:ext uri="{FF2B5EF4-FFF2-40B4-BE49-F238E27FC236}">
                <a16:creationId xmlns:a16="http://schemas.microsoft.com/office/drawing/2014/main" id="{6BA6751D-1501-B3CB-F542-54B2A2AC1F5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B793B0F-0E43-CB82-13A7-52B47B5C82F8}"/>
              </a:ext>
            </a:extLst>
          </p:cNvPr>
          <p:cNvSpPr>
            <a:spLocks noGrp="1"/>
          </p:cNvSpPr>
          <p:nvPr>
            <p:ph type="sldNum" sz="quarter" idx="12"/>
          </p:nvPr>
        </p:nvSpPr>
        <p:spPr/>
        <p:txBody>
          <a:bodyPr/>
          <a:lstStyle/>
          <a:p>
            <a:fld id="{EAE6CF52-3FDD-43C1-8392-ABB0D4F7F205}" type="slidenum">
              <a:rPr lang="he-IL" smtClean="0"/>
              <a:t>‹#›</a:t>
            </a:fld>
            <a:endParaRPr lang="he-IL"/>
          </a:p>
        </p:txBody>
      </p:sp>
    </p:spTree>
    <p:extLst>
      <p:ext uri="{BB962C8B-B14F-4D97-AF65-F5344CB8AC3E}">
        <p14:creationId xmlns:p14="http://schemas.microsoft.com/office/powerpoint/2010/main" val="3047093833"/>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741AA26-0151-8429-24B2-956BB1333F33}"/>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9FD3A30-B5C8-A1C2-0DAF-FEC4366A70FD}"/>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948EC25-8C0B-146E-2CFF-16B1B6DAB994}"/>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BA06A09C-A0A1-4D70-AE2B-34C0F3FE9672}" type="datetimeFigureOut">
              <a:rPr lang="he-IL" smtClean="0"/>
              <a:t>ד'/אב/תשפ"ה</a:t>
            </a:fld>
            <a:endParaRPr lang="he-IL"/>
          </a:p>
        </p:txBody>
      </p:sp>
      <p:sp>
        <p:nvSpPr>
          <p:cNvPr id="5" name="מציין מיקום של כותרת תחתונה 4">
            <a:extLst>
              <a:ext uri="{FF2B5EF4-FFF2-40B4-BE49-F238E27FC236}">
                <a16:creationId xmlns:a16="http://schemas.microsoft.com/office/drawing/2014/main" id="{7EF7529A-3C44-C8FC-0056-4C1AED5D9C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6987C86A-8F38-3611-A681-2069315653E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EAE6CF52-3FDD-43C1-8392-ABB0D4F7F205}" type="slidenum">
              <a:rPr lang="he-IL" smtClean="0"/>
              <a:t>‹#›</a:t>
            </a:fld>
            <a:endParaRPr lang="he-IL"/>
          </a:p>
        </p:txBody>
      </p:sp>
    </p:spTree>
    <p:extLst>
      <p:ext uri="{BB962C8B-B14F-4D97-AF65-F5344CB8AC3E}">
        <p14:creationId xmlns:p14="http://schemas.microsoft.com/office/powerpoint/2010/main" val="2335202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671484" y="1617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304800" y="586234"/>
            <a:ext cx="11582400" cy="5685531"/>
          </a:xfrm>
          <a:prstGeom prst="rect">
            <a:avLst/>
          </a:prstGeom>
          <a:noFill/>
        </p:spPr>
        <p:txBody>
          <a:bodyPr wrap="square" lIns="91440" tIns="45720" rIns="91440" bIns="45720">
            <a:spAutoFit/>
          </a:bodyPr>
          <a:lstStyle/>
          <a:p>
            <a:pPr algn="ctr" rtl="1">
              <a:lnSpc>
                <a:spcPct val="115000"/>
              </a:lnSpc>
              <a:spcAft>
                <a:spcPts val="800"/>
              </a:spcAft>
            </a:pPr>
            <a:r>
              <a:rPr lang="en-US" sz="96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Memory Game</a:t>
            </a:r>
            <a:br>
              <a:rPr lang="en-US" sz="96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b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by Shira </a:t>
            </a:r>
            <a:r>
              <a:rPr lang="en-US" sz="5400" kern="100" dirty="0" err="1">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Shakarov</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 &amp; </a:t>
            </a:r>
            <a:r>
              <a:rPr lang="en-US" sz="5400" kern="100" dirty="0" err="1">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Leah’le</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 Abrahams</a:t>
            </a:r>
            <a:b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br>
            <a:endPar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gn="ctr" rtl="1">
              <a:lnSpc>
                <a:spcPct val="115000"/>
              </a:lnSpc>
              <a:spcAft>
                <a:spcPts val="800"/>
              </a:spcAft>
            </a:pPr>
            <a:endPar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gn="ctr" rtl="1">
              <a:lnSpc>
                <a:spcPct val="115000"/>
              </a:lnSpc>
              <a:spcAft>
                <a:spcPts val="800"/>
              </a:spcAft>
            </a:pPr>
            <a:r>
              <a:rPr lang="he-IL"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להזמנת משחקים חייגו:</a:t>
            </a:r>
            <a:br>
              <a:rPr lang="en-US"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br>
            <a:r>
              <a:rPr lang="he-IL"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055-6780900 &amp; 055-6765980 </a:t>
            </a:r>
            <a:endParaRPr lang="en-US"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p:txBody>
      </p:sp>
    </p:spTree>
    <p:extLst>
      <p:ext uri="{BB962C8B-B14F-4D97-AF65-F5344CB8AC3E}">
        <p14:creationId xmlns:p14="http://schemas.microsoft.com/office/powerpoint/2010/main" val="173343151"/>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671484" y="1617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304800" y="2213406"/>
            <a:ext cx="11582400" cy="3493072"/>
          </a:xfrm>
          <a:prstGeom prst="rect">
            <a:avLst/>
          </a:prstGeom>
          <a:noFill/>
        </p:spPr>
        <p:txBody>
          <a:bodyPr wrap="square" lIns="91440" tIns="45720" rIns="91440" bIns="45720">
            <a:spAutoFit/>
          </a:bodyPr>
          <a:lstStyle/>
          <a:p>
            <a:pPr algn="ctr" rtl="1">
              <a:lnSpc>
                <a:spcPct val="115000"/>
              </a:lnSpc>
              <a:spcAft>
                <a:spcPts val="800"/>
              </a:spcAft>
            </a:pPr>
            <a:r>
              <a:rPr lang="he-IL" sz="96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תיעוד הפרויקט</a:t>
            </a:r>
          </a:p>
          <a:p>
            <a:pPr algn="ctr" rtl="1">
              <a:lnSpc>
                <a:spcPct val="115000"/>
              </a:lnSpc>
              <a:spcAft>
                <a:spcPts val="800"/>
              </a:spcAft>
            </a:pPr>
            <a:r>
              <a:rPr lang="en-US" sz="96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Memory Game</a:t>
            </a:r>
          </a:p>
        </p:txBody>
      </p:sp>
    </p:spTree>
    <p:extLst>
      <p:ext uri="{BB962C8B-B14F-4D97-AF65-F5344CB8AC3E}">
        <p14:creationId xmlns:p14="http://schemas.microsoft.com/office/powerpoint/2010/main" val="3411091057"/>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1616704" y="73473"/>
            <a:ext cx="10289047" cy="3432478"/>
          </a:xfrm>
          <a:prstGeom prst="rect">
            <a:avLst/>
          </a:prstGeom>
          <a:noFill/>
        </p:spPr>
        <p:txBody>
          <a:bodyPr wrap="square" lIns="91440" tIns="45720" rIns="91440" bIns="45720">
            <a:spAutoFit/>
          </a:bodyPr>
          <a:lstStyle/>
          <a:p>
            <a:pPr algn="ctr" rtl="1">
              <a:lnSpc>
                <a:spcPct val="115000"/>
              </a:lnSpc>
              <a:spcAft>
                <a:spcPts val="800"/>
              </a:spcAft>
            </a:pPr>
            <a:r>
              <a:rPr lang="en-US" sz="1800" kern="100" dirty="0">
                <a:solidFill>
                  <a:srgbClr val="3C4043"/>
                </a:solidFill>
                <a:effectLst/>
                <a:latin typeface="Roboto"/>
                <a:ea typeface="Aptos" panose="02110004020202020204"/>
                <a:cs typeface="Arial" panose="020B0604020202020204" pitchFamily="34" charset="0"/>
              </a:rPr>
              <a:t> </a:t>
            </a: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ea typeface="Aptos" panose="02110004020202020204"/>
                <a:cs typeface="Arial" panose="020B0604020202020204" pitchFamily="34" charset="0"/>
              </a:rPr>
              <a:t>דפי ה</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ea typeface="Aptos" panose="02110004020202020204"/>
                <a:cs typeface="Arial" panose="020B0604020202020204" pitchFamily="34" charset="0"/>
              </a:rPr>
              <a:t>HTML</a:t>
            </a: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ea typeface="Aptos" panose="02110004020202020204"/>
                <a:cs typeface="Arial" panose="020B0604020202020204" pitchFamily="34" charset="0"/>
              </a:rPr>
              <a:t> הקיימים:</a:t>
            </a:r>
            <a:endParaRPr lang="en-US" sz="5400" kern="100" dirty="0">
              <a:effectLst/>
              <a:latin typeface="Aptos" panose="02110004020202020204"/>
              <a:ea typeface="Aptos" panose="02110004020202020204"/>
              <a:cs typeface="Arial" panose="020B0604020202020204" pitchFamily="34" charset="0"/>
            </a:endParaRPr>
          </a:p>
          <a:p>
            <a:pPr marL="342900" lvl="0" indent="-342900" algn="r" rtl="1">
              <a:lnSpc>
                <a:spcPct val="107000"/>
              </a:lnSpc>
              <a:buFont typeface="+mj-lt"/>
              <a:buAutoNum type="arabicPeriod"/>
            </a:pPr>
            <a:r>
              <a:rPr lang="he-IL" sz="2800" kern="100" dirty="0">
                <a:effectLst/>
                <a:latin typeface="Aptos" panose="02110004020202020204"/>
                <a:ea typeface="Aptos" panose="02110004020202020204"/>
                <a:cs typeface="Arial" panose="020B0604020202020204" pitchFamily="34" charset="0"/>
              </a:rPr>
              <a:t>רישום / </a:t>
            </a:r>
            <a:r>
              <a:rPr lang="en-US" sz="2800" b="1" kern="100" dirty="0" err="1">
                <a:solidFill>
                  <a:schemeClr val="accent5"/>
                </a:solidFill>
                <a:latin typeface="Aptos" panose="02110004020202020204"/>
                <a:cs typeface="Arial" panose="020B0604020202020204" pitchFamily="34" charset="0"/>
              </a:rPr>
              <a:t>SignUp</a:t>
            </a:r>
            <a:r>
              <a:rPr lang="he-IL" sz="2800" kern="100" dirty="0">
                <a:effectLst/>
                <a:latin typeface="Aptos" panose="02110004020202020204"/>
                <a:ea typeface="Aptos" panose="02110004020202020204"/>
                <a:cs typeface="Arial" panose="020B0604020202020204" pitchFamily="34" charset="0"/>
              </a:rPr>
              <a:t> – שמירת פרטי משתמש חדש במערכת ומעבר למשחק.</a:t>
            </a:r>
          </a:p>
          <a:p>
            <a:pPr marL="342900" lvl="0" indent="-342900" algn="r" rtl="1">
              <a:lnSpc>
                <a:spcPct val="107000"/>
              </a:lnSpc>
              <a:buFont typeface="+mj-lt"/>
              <a:buAutoNum type="arabicPeriod"/>
            </a:pPr>
            <a:r>
              <a:rPr lang="he-IL" sz="2800" kern="100" dirty="0">
                <a:effectLst/>
                <a:latin typeface="Aptos" panose="02110004020202020204"/>
                <a:ea typeface="Aptos" panose="02110004020202020204"/>
                <a:cs typeface="Arial" panose="020B0604020202020204" pitchFamily="34" charset="0"/>
              </a:rPr>
              <a:t>כניסה / </a:t>
            </a:r>
            <a:r>
              <a:rPr lang="en-US" sz="2800" b="1" kern="100" dirty="0">
                <a:solidFill>
                  <a:schemeClr val="accent5"/>
                </a:solidFill>
                <a:latin typeface="Aptos" panose="02110004020202020204"/>
                <a:cs typeface="Arial" panose="020B0604020202020204" pitchFamily="34" charset="0"/>
              </a:rPr>
              <a:t>Login</a:t>
            </a:r>
            <a:r>
              <a:rPr lang="he-IL" sz="2800" kern="100" dirty="0">
                <a:effectLst/>
                <a:latin typeface="Aptos" panose="02110004020202020204"/>
                <a:ea typeface="Aptos" panose="02110004020202020204"/>
                <a:cs typeface="Arial" panose="020B0604020202020204" pitchFamily="34" charset="0"/>
              </a:rPr>
              <a:t> – התחברות משתמש קיים למערכת ומעבר למשחק.</a:t>
            </a:r>
          </a:p>
          <a:p>
            <a:pPr marL="342900" lvl="0" indent="-342900" algn="r" rtl="1">
              <a:lnSpc>
                <a:spcPct val="107000"/>
              </a:lnSpc>
              <a:buFont typeface="+mj-lt"/>
              <a:buAutoNum type="arabicPeriod"/>
            </a:pPr>
            <a:r>
              <a:rPr lang="he-IL" sz="2800" kern="100" dirty="0">
                <a:effectLst/>
                <a:latin typeface="Aptos" panose="02110004020202020204"/>
                <a:ea typeface="Aptos" panose="02110004020202020204"/>
                <a:cs typeface="Arial" panose="020B0604020202020204" pitchFamily="34" charset="0"/>
              </a:rPr>
              <a:t>משחק / </a:t>
            </a:r>
            <a:r>
              <a:rPr lang="en-US" sz="2800" b="1" kern="100" dirty="0">
                <a:solidFill>
                  <a:schemeClr val="accent5"/>
                </a:solidFill>
                <a:latin typeface="Aptos" panose="02110004020202020204"/>
                <a:cs typeface="Arial" panose="020B0604020202020204" pitchFamily="34" charset="0"/>
              </a:rPr>
              <a:t>Game</a:t>
            </a:r>
            <a:r>
              <a:rPr lang="he-IL" sz="2800" b="1" kern="100" dirty="0">
                <a:solidFill>
                  <a:schemeClr val="accent5"/>
                </a:solidFill>
                <a:latin typeface="Aptos" panose="02110004020202020204"/>
                <a:cs typeface="Arial" panose="020B0604020202020204" pitchFamily="34" charset="0"/>
              </a:rPr>
              <a:t> – </a:t>
            </a:r>
            <a:r>
              <a:rPr lang="he-IL" sz="2800" kern="100" dirty="0">
                <a:latin typeface="Aptos" panose="02110004020202020204"/>
                <a:cs typeface="Arial" panose="020B0604020202020204" pitchFamily="34" charset="0"/>
              </a:rPr>
              <a:t>משחק </a:t>
            </a:r>
            <a:r>
              <a:rPr lang="he-IL" sz="2800" kern="100" dirty="0" err="1">
                <a:latin typeface="Aptos" panose="02110004020202020204"/>
                <a:cs typeface="Arial" panose="020B0604020202020204" pitchFamily="34" charset="0"/>
              </a:rPr>
              <a:t>הזכרון</a:t>
            </a:r>
            <a:r>
              <a:rPr lang="he-IL" sz="2800" kern="100" dirty="0">
                <a:latin typeface="Aptos" panose="02110004020202020204"/>
                <a:cs typeface="Arial" panose="020B0604020202020204" pitchFamily="34" charset="0"/>
              </a:rPr>
              <a:t> עצמו.</a:t>
            </a:r>
            <a:endParaRPr lang="en-US" sz="2800" kern="100" dirty="0">
              <a:latin typeface="Aptos" panose="02110004020202020204"/>
              <a:cs typeface="Arial" panose="020B0604020202020204" pitchFamily="34" charset="0"/>
            </a:endParaRPr>
          </a:p>
          <a:p>
            <a:pPr marL="342900" lvl="0" indent="-342900" algn="r" rtl="1">
              <a:lnSpc>
                <a:spcPct val="107000"/>
              </a:lnSpc>
              <a:buFont typeface="+mj-lt"/>
              <a:buAutoNum type="arabicPeriod"/>
            </a:pPr>
            <a:r>
              <a:rPr lang="he-IL" sz="2800" kern="100" dirty="0" err="1">
                <a:effectLst/>
                <a:latin typeface="Aptos" panose="02110004020202020204"/>
                <a:ea typeface="Aptos" panose="02110004020202020204"/>
                <a:cs typeface="Arial" panose="020B0604020202020204" pitchFamily="34" charset="0"/>
              </a:rPr>
              <a:t>נצחון</a:t>
            </a:r>
            <a:r>
              <a:rPr lang="he-IL" sz="2800" kern="100" dirty="0">
                <a:effectLst/>
                <a:latin typeface="Aptos" panose="02110004020202020204"/>
                <a:ea typeface="Aptos" panose="02110004020202020204"/>
                <a:cs typeface="Arial" panose="020B0604020202020204" pitchFamily="34" charset="0"/>
              </a:rPr>
              <a:t> / </a:t>
            </a:r>
            <a:r>
              <a:rPr lang="en-US" sz="2800" b="1" kern="100" dirty="0">
                <a:solidFill>
                  <a:schemeClr val="accent5"/>
                </a:solidFill>
                <a:latin typeface="Aptos" panose="02110004020202020204"/>
                <a:cs typeface="Arial" panose="020B0604020202020204" pitchFamily="34" charset="0"/>
              </a:rPr>
              <a:t>Win</a:t>
            </a:r>
            <a:r>
              <a:rPr lang="he-IL" sz="2800" kern="100" dirty="0">
                <a:latin typeface="Aptos" panose="02110004020202020204"/>
                <a:ea typeface="Aptos" panose="02110004020202020204"/>
                <a:cs typeface="Arial" panose="020B0604020202020204" pitchFamily="34" charset="0"/>
              </a:rPr>
              <a:t> – הדף אליו מגיעים מדף משחק </a:t>
            </a:r>
            <a:r>
              <a:rPr lang="he-IL" sz="2800" kern="100" dirty="0" err="1">
                <a:latin typeface="Aptos" panose="02110004020202020204"/>
                <a:ea typeface="Aptos" panose="02110004020202020204"/>
                <a:cs typeface="Arial" panose="020B0604020202020204" pitchFamily="34" charset="0"/>
              </a:rPr>
              <a:t>הזכרון</a:t>
            </a:r>
            <a:r>
              <a:rPr lang="he-IL" sz="2800" kern="100" dirty="0">
                <a:latin typeface="Aptos" panose="02110004020202020204"/>
                <a:ea typeface="Aptos" panose="02110004020202020204"/>
                <a:cs typeface="Arial" panose="020B0604020202020204" pitchFamily="34" charset="0"/>
              </a:rPr>
              <a:t> בעת </a:t>
            </a:r>
            <a:r>
              <a:rPr lang="he-IL" sz="2800" kern="100" dirty="0" err="1">
                <a:latin typeface="Aptos" panose="02110004020202020204"/>
                <a:ea typeface="Aptos" panose="02110004020202020204"/>
                <a:cs typeface="Arial" panose="020B0604020202020204" pitchFamily="34" charset="0"/>
              </a:rPr>
              <a:t>נצחון</a:t>
            </a:r>
            <a:r>
              <a:rPr lang="he-IL" sz="2800" kern="100" dirty="0">
                <a:latin typeface="Aptos" panose="02110004020202020204"/>
                <a:ea typeface="Aptos" panose="02110004020202020204"/>
                <a:cs typeface="Arial" panose="020B0604020202020204" pitchFamily="34" charset="0"/>
              </a:rPr>
              <a:t>.</a:t>
            </a:r>
            <a:endParaRPr lang="en-US" sz="2800" kern="100" dirty="0">
              <a:effectLst/>
              <a:latin typeface="Aptos" panose="02110004020202020204"/>
              <a:ea typeface="Aptos" panose="02110004020202020204"/>
              <a:cs typeface="Arial" panose="020B0604020202020204" pitchFamily="34" charset="0"/>
            </a:endParaRPr>
          </a:p>
          <a:p>
            <a:pPr marL="342900" lvl="0" indent="-342900" algn="r" rtl="1">
              <a:lnSpc>
                <a:spcPct val="107000"/>
              </a:lnSpc>
              <a:buFont typeface="+mj-lt"/>
              <a:buAutoNum type="arabicPeriod"/>
            </a:pPr>
            <a:r>
              <a:rPr lang="he-IL" sz="2800" kern="100" dirty="0">
                <a:effectLst/>
                <a:latin typeface="Aptos" panose="02110004020202020204"/>
                <a:ea typeface="Aptos" panose="02110004020202020204"/>
                <a:cs typeface="Arial" panose="020B0604020202020204" pitchFamily="34" charset="0"/>
              </a:rPr>
              <a:t>הפסד / </a:t>
            </a:r>
            <a:r>
              <a:rPr lang="en-US" sz="2800" b="1" kern="100" dirty="0">
                <a:solidFill>
                  <a:schemeClr val="accent5"/>
                </a:solidFill>
                <a:latin typeface="Aptos" panose="02110004020202020204"/>
                <a:cs typeface="Arial" panose="020B0604020202020204" pitchFamily="34" charset="0"/>
              </a:rPr>
              <a:t>Loss</a:t>
            </a:r>
            <a:r>
              <a:rPr lang="he-IL" sz="2800" kern="100" dirty="0">
                <a:latin typeface="Aptos" panose="02110004020202020204"/>
                <a:ea typeface="Aptos" panose="02110004020202020204"/>
                <a:cs typeface="Arial" panose="020B0604020202020204" pitchFamily="34" charset="0"/>
              </a:rPr>
              <a:t> - הדף אליו מגיעים מדף משחק </a:t>
            </a:r>
            <a:r>
              <a:rPr lang="he-IL" sz="2800" kern="100" dirty="0" err="1">
                <a:latin typeface="Aptos" panose="02110004020202020204"/>
                <a:ea typeface="Aptos" panose="02110004020202020204"/>
                <a:cs typeface="Arial" panose="020B0604020202020204" pitchFamily="34" charset="0"/>
              </a:rPr>
              <a:t>הזכרון</a:t>
            </a:r>
            <a:r>
              <a:rPr lang="he-IL" sz="2800" kern="100" dirty="0">
                <a:latin typeface="Aptos" panose="02110004020202020204"/>
                <a:ea typeface="Aptos" panose="02110004020202020204"/>
                <a:cs typeface="Arial" panose="020B0604020202020204" pitchFamily="34" charset="0"/>
              </a:rPr>
              <a:t> בעת הפסד.</a:t>
            </a:r>
            <a:endParaRPr lang="en-US" sz="2800" kern="100" dirty="0">
              <a:effectLst/>
              <a:latin typeface="Aptos" panose="02110004020202020204"/>
              <a:ea typeface="Aptos" panose="02110004020202020204"/>
              <a:cs typeface="Arial" panose="020B0604020202020204" pitchFamily="34" charset="0"/>
            </a:endParaRPr>
          </a:p>
        </p:txBody>
      </p:sp>
      <p:grpSp>
        <p:nvGrpSpPr>
          <p:cNvPr id="35" name="קבוצה 34">
            <a:extLst>
              <a:ext uri="{FF2B5EF4-FFF2-40B4-BE49-F238E27FC236}">
                <a16:creationId xmlns:a16="http://schemas.microsoft.com/office/drawing/2014/main" id="{39AD64F3-8F7A-071A-3DC5-9C58A104B5C6}"/>
              </a:ext>
            </a:extLst>
          </p:cNvPr>
          <p:cNvGrpSpPr/>
          <p:nvPr/>
        </p:nvGrpSpPr>
        <p:grpSpPr>
          <a:xfrm>
            <a:off x="0" y="3433544"/>
            <a:ext cx="3878825" cy="3272056"/>
            <a:chOff x="1439542" y="2647161"/>
            <a:chExt cx="3834327" cy="3819038"/>
          </a:xfrm>
        </p:grpSpPr>
        <p:sp>
          <p:nvSpPr>
            <p:cNvPr id="12" name="מלבן 11">
              <a:extLst>
                <a:ext uri="{FF2B5EF4-FFF2-40B4-BE49-F238E27FC236}">
                  <a16:creationId xmlns:a16="http://schemas.microsoft.com/office/drawing/2014/main" id="{11A816F9-9772-2FFB-12CC-2A4FB04907FD}"/>
                </a:ext>
              </a:extLst>
            </p:cNvPr>
            <p:cNvSpPr/>
            <p:nvPr/>
          </p:nvSpPr>
          <p:spPr>
            <a:xfrm>
              <a:off x="1906835" y="2647161"/>
              <a:ext cx="1293357" cy="733926"/>
            </a:xfrm>
            <a:prstGeom prst="rect">
              <a:avLst/>
            </a:prstGeom>
            <a:solidFill>
              <a:srgbClr val="F9E5F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2">
              <a:extLst>
                <a:ext uri="{FF2B5EF4-FFF2-40B4-BE49-F238E27FC236}">
                  <a16:creationId xmlns:a16="http://schemas.microsoft.com/office/drawing/2014/main" id="{D5E0BDDB-4A63-814C-3DFE-3C9D21ECADE1}"/>
                </a:ext>
              </a:extLst>
            </p:cNvPr>
            <p:cNvSpPr/>
            <p:nvPr/>
          </p:nvSpPr>
          <p:spPr>
            <a:xfrm>
              <a:off x="3504992" y="2649818"/>
              <a:ext cx="1293357" cy="733926"/>
            </a:xfrm>
            <a:prstGeom prst="rect">
              <a:avLst/>
            </a:prstGeom>
            <a:solidFill>
              <a:srgbClr val="F9E5F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a:extLst>
                <a:ext uri="{FF2B5EF4-FFF2-40B4-BE49-F238E27FC236}">
                  <a16:creationId xmlns:a16="http://schemas.microsoft.com/office/drawing/2014/main" id="{F1B6D206-D4CA-2989-454B-17FA38401489}"/>
                </a:ext>
              </a:extLst>
            </p:cNvPr>
            <p:cNvSpPr/>
            <p:nvPr/>
          </p:nvSpPr>
          <p:spPr>
            <a:xfrm>
              <a:off x="2566737" y="3995246"/>
              <a:ext cx="1588169" cy="1106906"/>
            </a:xfrm>
            <a:prstGeom prst="rect">
              <a:avLst/>
            </a:prstGeom>
            <a:solidFill>
              <a:srgbClr val="F9E5F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מלבן 16">
              <a:extLst>
                <a:ext uri="{FF2B5EF4-FFF2-40B4-BE49-F238E27FC236}">
                  <a16:creationId xmlns:a16="http://schemas.microsoft.com/office/drawing/2014/main" id="{B703EAF6-E8FA-A23B-A2CD-27DAF1C4C2D2}"/>
                </a:ext>
              </a:extLst>
            </p:cNvPr>
            <p:cNvSpPr/>
            <p:nvPr/>
          </p:nvSpPr>
          <p:spPr>
            <a:xfrm>
              <a:off x="1439542" y="2713112"/>
              <a:ext cx="2227941" cy="584775"/>
            </a:xfrm>
            <a:prstGeom prst="rect">
              <a:avLst/>
            </a:prstGeom>
            <a:noFill/>
          </p:spPr>
          <p:txBody>
            <a:bodyPr wrap="square" lIns="91440" tIns="45720" rIns="91440" bIns="45720">
              <a:spAutoFit/>
            </a:bodyPr>
            <a:lstStyle/>
            <a:p>
              <a:pPr algn="ctr"/>
              <a:r>
                <a:rPr lang="en-US" sz="3200" b="1" kern="100" dirty="0" err="1">
                  <a:solidFill>
                    <a:schemeClr val="accent5"/>
                  </a:solidFill>
                  <a:latin typeface="Aptos" panose="02110004020202020204"/>
                  <a:cs typeface="Arial" panose="020B0604020202020204" pitchFamily="34" charset="0"/>
                </a:rPr>
                <a:t>SignUp</a:t>
              </a:r>
              <a:endParaRPr lang="he-IL" sz="3200" b="0" cap="none" spc="0" dirty="0">
                <a:ln w="0"/>
                <a:gradFill>
                  <a:gsLst>
                    <a:gs pos="21000">
                      <a:srgbClr val="53575C"/>
                    </a:gs>
                    <a:gs pos="88000">
                      <a:srgbClr val="C5C7CA"/>
                    </a:gs>
                  </a:gsLst>
                  <a:lin ang="5400000"/>
                </a:gradFill>
                <a:effectLst/>
              </a:endParaRPr>
            </a:p>
          </p:txBody>
        </p:sp>
        <p:sp>
          <p:nvSpPr>
            <p:cNvPr id="18" name="מלבן 17">
              <a:extLst>
                <a:ext uri="{FF2B5EF4-FFF2-40B4-BE49-F238E27FC236}">
                  <a16:creationId xmlns:a16="http://schemas.microsoft.com/office/drawing/2014/main" id="{65DF7B88-19F1-DE2C-608B-793E8DD255C9}"/>
                </a:ext>
              </a:extLst>
            </p:cNvPr>
            <p:cNvSpPr/>
            <p:nvPr/>
          </p:nvSpPr>
          <p:spPr>
            <a:xfrm>
              <a:off x="3037699" y="2721736"/>
              <a:ext cx="2227941" cy="584775"/>
            </a:xfrm>
            <a:prstGeom prst="rect">
              <a:avLst/>
            </a:prstGeom>
            <a:noFill/>
          </p:spPr>
          <p:txBody>
            <a:bodyPr wrap="square" lIns="91440" tIns="45720" rIns="91440" bIns="45720">
              <a:spAutoFit/>
            </a:bodyPr>
            <a:lstStyle/>
            <a:p>
              <a:pPr algn="ctr"/>
              <a:r>
                <a:rPr lang="en-US" sz="3200" b="1" kern="100" dirty="0">
                  <a:solidFill>
                    <a:schemeClr val="accent5"/>
                  </a:solidFill>
                  <a:latin typeface="Aptos" panose="02110004020202020204"/>
                  <a:cs typeface="Arial" panose="020B0604020202020204" pitchFamily="34" charset="0"/>
                </a:rPr>
                <a:t>Login</a:t>
              </a:r>
              <a:endParaRPr lang="he-IL" sz="3200" b="0" cap="none" spc="0" dirty="0">
                <a:ln w="0"/>
                <a:gradFill>
                  <a:gsLst>
                    <a:gs pos="21000">
                      <a:srgbClr val="53575C"/>
                    </a:gs>
                    <a:gs pos="88000">
                      <a:srgbClr val="C5C7CA"/>
                    </a:gs>
                  </a:gsLst>
                  <a:lin ang="5400000"/>
                </a:gradFill>
                <a:effectLst/>
              </a:endParaRPr>
            </a:p>
          </p:txBody>
        </p:sp>
        <p:sp>
          <p:nvSpPr>
            <p:cNvPr id="19" name="מלבן 18">
              <a:extLst>
                <a:ext uri="{FF2B5EF4-FFF2-40B4-BE49-F238E27FC236}">
                  <a16:creationId xmlns:a16="http://schemas.microsoft.com/office/drawing/2014/main" id="{2AD7EF62-E31E-BCCF-5A85-68BC452915D0}"/>
                </a:ext>
              </a:extLst>
            </p:cNvPr>
            <p:cNvSpPr/>
            <p:nvPr/>
          </p:nvSpPr>
          <p:spPr>
            <a:xfrm>
              <a:off x="1915064" y="5729616"/>
              <a:ext cx="1293357" cy="733926"/>
            </a:xfrm>
            <a:prstGeom prst="rect">
              <a:avLst/>
            </a:prstGeom>
            <a:solidFill>
              <a:srgbClr val="F9E5F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מלבן 19">
              <a:extLst>
                <a:ext uri="{FF2B5EF4-FFF2-40B4-BE49-F238E27FC236}">
                  <a16:creationId xmlns:a16="http://schemas.microsoft.com/office/drawing/2014/main" id="{91133259-EC14-EC2F-18CC-987A9987E9C1}"/>
                </a:ext>
              </a:extLst>
            </p:cNvPr>
            <p:cNvSpPr/>
            <p:nvPr/>
          </p:nvSpPr>
          <p:spPr>
            <a:xfrm>
              <a:off x="3513221" y="5732273"/>
              <a:ext cx="1293357" cy="733926"/>
            </a:xfrm>
            <a:prstGeom prst="rect">
              <a:avLst/>
            </a:prstGeom>
            <a:solidFill>
              <a:srgbClr val="F9E5F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20">
              <a:extLst>
                <a:ext uri="{FF2B5EF4-FFF2-40B4-BE49-F238E27FC236}">
                  <a16:creationId xmlns:a16="http://schemas.microsoft.com/office/drawing/2014/main" id="{83F13315-DC81-6165-3EF3-150B5F936B49}"/>
                </a:ext>
              </a:extLst>
            </p:cNvPr>
            <p:cNvSpPr/>
            <p:nvPr/>
          </p:nvSpPr>
          <p:spPr>
            <a:xfrm>
              <a:off x="1447771" y="5795567"/>
              <a:ext cx="2227941" cy="584775"/>
            </a:xfrm>
            <a:prstGeom prst="rect">
              <a:avLst/>
            </a:prstGeom>
            <a:noFill/>
          </p:spPr>
          <p:txBody>
            <a:bodyPr wrap="square" lIns="91440" tIns="45720" rIns="91440" bIns="45720">
              <a:spAutoFit/>
            </a:bodyPr>
            <a:lstStyle/>
            <a:p>
              <a:pPr algn="ctr"/>
              <a:r>
                <a:rPr lang="en-US" sz="3200" b="1" kern="100" dirty="0">
                  <a:solidFill>
                    <a:schemeClr val="accent5"/>
                  </a:solidFill>
                  <a:latin typeface="Aptos" panose="02110004020202020204"/>
                  <a:cs typeface="Arial" panose="020B0604020202020204" pitchFamily="34" charset="0"/>
                </a:rPr>
                <a:t>Win</a:t>
              </a:r>
              <a:endParaRPr lang="he-IL" sz="3200" b="0" cap="none" spc="0" dirty="0">
                <a:ln w="0"/>
                <a:gradFill>
                  <a:gsLst>
                    <a:gs pos="21000">
                      <a:srgbClr val="53575C"/>
                    </a:gs>
                    <a:gs pos="88000">
                      <a:srgbClr val="C5C7CA"/>
                    </a:gs>
                  </a:gsLst>
                  <a:lin ang="5400000"/>
                </a:gradFill>
                <a:effectLst/>
              </a:endParaRPr>
            </a:p>
          </p:txBody>
        </p:sp>
        <p:sp>
          <p:nvSpPr>
            <p:cNvPr id="22" name="מלבן 21">
              <a:extLst>
                <a:ext uri="{FF2B5EF4-FFF2-40B4-BE49-F238E27FC236}">
                  <a16:creationId xmlns:a16="http://schemas.microsoft.com/office/drawing/2014/main" id="{17B3DFEB-1388-04DB-83AE-C5290C6E008D}"/>
                </a:ext>
              </a:extLst>
            </p:cNvPr>
            <p:cNvSpPr/>
            <p:nvPr/>
          </p:nvSpPr>
          <p:spPr>
            <a:xfrm>
              <a:off x="3045928" y="5804191"/>
              <a:ext cx="2227941" cy="584775"/>
            </a:xfrm>
            <a:prstGeom prst="rect">
              <a:avLst/>
            </a:prstGeom>
            <a:noFill/>
          </p:spPr>
          <p:txBody>
            <a:bodyPr wrap="square" lIns="91440" tIns="45720" rIns="91440" bIns="45720">
              <a:spAutoFit/>
            </a:bodyPr>
            <a:lstStyle/>
            <a:p>
              <a:pPr algn="ctr"/>
              <a:r>
                <a:rPr lang="en-US" sz="3200" b="1" kern="100" dirty="0">
                  <a:solidFill>
                    <a:schemeClr val="accent5"/>
                  </a:solidFill>
                  <a:latin typeface="Aptos" panose="02110004020202020204"/>
                  <a:cs typeface="Arial" panose="020B0604020202020204" pitchFamily="34" charset="0"/>
                </a:rPr>
                <a:t>Loss</a:t>
              </a:r>
              <a:endParaRPr lang="he-IL" sz="3200" b="0" cap="none" spc="0" dirty="0">
                <a:ln w="0"/>
                <a:gradFill>
                  <a:gsLst>
                    <a:gs pos="21000">
                      <a:srgbClr val="53575C"/>
                    </a:gs>
                    <a:gs pos="88000">
                      <a:srgbClr val="C5C7CA"/>
                    </a:gs>
                  </a:gsLst>
                  <a:lin ang="5400000"/>
                </a:gradFill>
                <a:effectLst/>
              </a:endParaRPr>
            </a:p>
          </p:txBody>
        </p:sp>
        <p:sp>
          <p:nvSpPr>
            <p:cNvPr id="23" name="מלבן 22">
              <a:extLst>
                <a:ext uri="{FF2B5EF4-FFF2-40B4-BE49-F238E27FC236}">
                  <a16:creationId xmlns:a16="http://schemas.microsoft.com/office/drawing/2014/main" id="{BCCE0C4C-4F44-7B34-53AC-2240DDD4B167}"/>
                </a:ext>
              </a:extLst>
            </p:cNvPr>
            <p:cNvSpPr/>
            <p:nvPr/>
          </p:nvSpPr>
          <p:spPr>
            <a:xfrm>
              <a:off x="2246850" y="4267957"/>
              <a:ext cx="2227941" cy="584775"/>
            </a:xfrm>
            <a:prstGeom prst="rect">
              <a:avLst/>
            </a:prstGeom>
            <a:noFill/>
          </p:spPr>
          <p:txBody>
            <a:bodyPr wrap="square" lIns="91440" tIns="45720" rIns="91440" bIns="45720">
              <a:spAutoFit/>
            </a:bodyPr>
            <a:lstStyle/>
            <a:p>
              <a:pPr algn="ctr"/>
              <a:r>
                <a:rPr lang="en-US" sz="3200" b="1" kern="100" dirty="0">
                  <a:solidFill>
                    <a:schemeClr val="accent5"/>
                  </a:solidFill>
                  <a:latin typeface="Aptos" panose="02110004020202020204"/>
                  <a:cs typeface="Arial" panose="020B0604020202020204" pitchFamily="34" charset="0"/>
                </a:rPr>
                <a:t>Game</a:t>
              </a:r>
              <a:endParaRPr lang="he-IL" sz="3200" b="0" cap="none" spc="0" dirty="0">
                <a:ln w="0"/>
                <a:gradFill>
                  <a:gsLst>
                    <a:gs pos="21000">
                      <a:srgbClr val="53575C"/>
                    </a:gs>
                    <a:gs pos="88000">
                      <a:srgbClr val="C5C7CA"/>
                    </a:gs>
                  </a:gsLst>
                  <a:lin ang="5400000"/>
                </a:gradFill>
                <a:effectLst/>
              </a:endParaRPr>
            </a:p>
          </p:txBody>
        </p:sp>
        <p:cxnSp>
          <p:nvCxnSpPr>
            <p:cNvPr id="25" name="מחבר חץ ישר 24">
              <a:extLst>
                <a:ext uri="{FF2B5EF4-FFF2-40B4-BE49-F238E27FC236}">
                  <a16:creationId xmlns:a16="http://schemas.microsoft.com/office/drawing/2014/main" id="{4FA38155-AD14-8582-1805-83F9AED7CF2E}"/>
                </a:ext>
              </a:extLst>
            </p:cNvPr>
            <p:cNvCxnSpPr>
              <a:cxnSpLocks/>
            </p:cNvCxnSpPr>
            <p:nvPr/>
          </p:nvCxnSpPr>
          <p:spPr>
            <a:xfrm>
              <a:off x="3614906" y="5102152"/>
              <a:ext cx="540000" cy="624806"/>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7" name="מחבר חץ ישר 26">
              <a:extLst>
                <a:ext uri="{FF2B5EF4-FFF2-40B4-BE49-F238E27FC236}">
                  <a16:creationId xmlns:a16="http://schemas.microsoft.com/office/drawing/2014/main" id="{993540F7-BD00-F71F-6EC1-360AD68518F3}"/>
                </a:ext>
              </a:extLst>
            </p:cNvPr>
            <p:cNvCxnSpPr>
              <a:cxnSpLocks/>
            </p:cNvCxnSpPr>
            <p:nvPr/>
          </p:nvCxnSpPr>
          <p:spPr>
            <a:xfrm flipV="1">
              <a:off x="2497699" y="5111990"/>
              <a:ext cx="540000" cy="624806"/>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8" name="מחבר חץ ישר 27">
              <a:extLst>
                <a:ext uri="{FF2B5EF4-FFF2-40B4-BE49-F238E27FC236}">
                  <a16:creationId xmlns:a16="http://schemas.microsoft.com/office/drawing/2014/main" id="{3B6F4E41-E522-81CA-A066-8207E31380E0}"/>
                </a:ext>
              </a:extLst>
            </p:cNvPr>
            <p:cNvCxnSpPr>
              <a:cxnSpLocks/>
            </p:cNvCxnSpPr>
            <p:nvPr/>
          </p:nvCxnSpPr>
          <p:spPr>
            <a:xfrm flipV="1">
              <a:off x="3649424" y="3361795"/>
              <a:ext cx="540000" cy="624806"/>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9" name="מחבר חץ ישר 28">
              <a:extLst>
                <a:ext uri="{FF2B5EF4-FFF2-40B4-BE49-F238E27FC236}">
                  <a16:creationId xmlns:a16="http://schemas.microsoft.com/office/drawing/2014/main" id="{75DBD573-2AD7-2E3E-2527-2DFA43BB91AA}"/>
                </a:ext>
              </a:extLst>
            </p:cNvPr>
            <p:cNvCxnSpPr>
              <a:cxnSpLocks/>
            </p:cNvCxnSpPr>
            <p:nvPr/>
          </p:nvCxnSpPr>
          <p:spPr>
            <a:xfrm>
              <a:off x="2532217" y="3371633"/>
              <a:ext cx="540000" cy="624806"/>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0" name="מחבר חץ ישר 29">
              <a:extLst>
                <a:ext uri="{FF2B5EF4-FFF2-40B4-BE49-F238E27FC236}">
                  <a16:creationId xmlns:a16="http://schemas.microsoft.com/office/drawing/2014/main" id="{5177E4CB-5517-0ADD-FD97-5E3500F74FA0}"/>
                </a:ext>
              </a:extLst>
            </p:cNvPr>
            <p:cNvCxnSpPr>
              <a:cxnSpLocks/>
              <a:stCxn id="12" idx="3"/>
              <a:endCxn id="13" idx="1"/>
            </p:cNvCxnSpPr>
            <p:nvPr/>
          </p:nvCxnSpPr>
          <p:spPr>
            <a:xfrm>
              <a:off x="3200192" y="3014124"/>
              <a:ext cx="304800" cy="265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629166427"/>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152400" y="0"/>
            <a:ext cx="11887200" cy="4542654"/>
          </a:xfrm>
          <a:prstGeom prst="rect">
            <a:avLst/>
          </a:prstGeom>
          <a:noFill/>
        </p:spPr>
        <p:txBody>
          <a:bodyPr wrap="square" lIns="91440" tIns="45720" rIns="91440" bIns="45720">
            <a:spAutoFit/>
          </a:bodyPr>
          <a:lstStyle/>
          <a:p>
            <a:pPr lvl="0" algn="ctr" rtl="1">
              <a:lnSpc>
                <a:spcPct val="107000"/>
              </a:lnSpc>
            </a:pP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מה מציגים דפי ה</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web</a:t>
            </a: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a:t>
            </a:r>
            <a:br>
              <a:rPr lang="en-US" sz="2400" kern="100" dirty="0">
                <a:effectLst/>
                <a:latin typeface="Aptos" panose="02110004020202020204"/>
                <a:ea typeface="Aptos" panose="02110004020202020204"/>
                <a:cs typeface="Arial" panose="020B0604020202020204" pitchFamily="34" charset="0"/>
              </a:rPr>
            </a:br>
            <a:endParaRPr lang="he-IL" sz="2400" kern="100" dirty="0">
              <a:effectLst/>
              <a:latin typeface="Aptos" panose="02110004020202020204"/>
              <a:ea typeface="Aptos" panose="02110004020202020204"/>
              <a:cs typeface="Arial" panose="020B0604020202020204" pitchFamily="34" charset="0"/>
            </a:endParaRPr>
          </a:p>
          <a:p>
            <a:pPr marL="342900" lvl="0" indent="-342900" algn="r" rtl="1">
              <a:lnSpc>
                <a:spcPct val="107000"/>
              </a:lnSpc>
              <a:buFont typeface="+mj-lt"/>
              <a:buAutoNum type="arabicPeriod"/>
            </a:pPr>
            <a:r>
              <a:rPr lang="he-IL" sz="2400" kern="100" dirty="0">
                <a:effectLst/>
                <a:latin typeface="Aptos" panose="02110004020202020204"/>
                <a:ea typeface="Aptos" panose="02110004020202020204"/>
                <a:cs typeface="Arial" panose="020B0604020202020204" pitchFamily="34" charset="0"/>
              </a:rPr>
              <a:t>רישום / </a:t>
            </a:r>
            <a:r>
              <a:rPr lang="en-US" sz="2400" b="1" kern="100" dirty="0" err="1">
                <a:solidFill>
                  <a:schemeClr val="accent5"/>
                </a:solidFill>
                <a:latin typeface="Aptos" panose="02110004020202020204"/>
                <a:cs typeface="Arial" panose="020B0604020202020204" pitchFamily="34" charset="0"/>
              </a:rPr>
              <a:t>SignUp</a:t>
            </a:r>
            <a:r>
              <a:rPr lang="he-IL" sz="2400" kern="100" dirty="0">
                <a:effectLst/>
                <a:latin typeface="Aptos" panose="02110004020202020204"/>
                <a:ea typeface="Aptos" panose="02110004020202020204"/>
                <a:cs typeface="Arial" panose="020B0604020202020204" pitchFamily="34" charset="0"/>
              </a:rPr>
              <a:t> – טופס רישום וכפתור להרשמה סופית.</a:t>
            </a:r>
          </a:p>
          <a:p>
            <a:pPr marL="342900" lvl="0" indent="-342900" algn="r" rtl="1">
              <a:lnSpc>
                <a:spcPct val="107000"/>
              </a:lnSpc>
              <a:buFont typeface="+mj-lt"/>
              <a:buAutoNum type="arabicPeriod"/>
            </a:pPr>
            <a:r>
              <a:rPr lang="he-IL" sz="2400" kern="100" dirty="0">
                <a:effectLst/>
                <a:latin typeface="Aptos" panose="02110004020202020204"/>
                <a:ea typeface="Aptos" panose="02110004020202020204"/>
                <a:cs typeface="Arial" panose="020B0604020202020204" pitchFamily="34" charset="0"/>
              </a:rPr>
              <a:t>כניסה / </a:t>
            </a:r>
            <a:r>
              <a:rPr lang="en-US" sz="2400" b="1" kern="100" dirty="0">
                <a:solidFill>
                  <a:schemeClr val="accent5"/>
                </a:solidFill>
                <a:latin typeface="Aptos" panose="02110004020202020204"/>
                <a:cs typeface="Arial" panose="020B0604020202020204" pitchFamily="34" charset="0"/>
              </a:rPr>
              <a:t>Login</a:t>
            </a:r>
            <a:r>
              <a:rPr lang="he-IL" sz="2400" kern="100" dirty="0">
                <a:effectLst/>
                <a:latin typeface="Aptos" panose="02110004020202020204"/>
                <a:ea typeface="Aptos" panose="02110004020202020204"/>
                <a:cs typeface="Arial" panose="020B0604020202020204" pitchFamily="34" charset="0"/>
              </a:rPr>
              <a:t> – טופס רישום מקוצר וכפתור לכניסה למשחק.</a:t>
            </a:r>
          </a:p>
          <a:p>
            <a:pPr marL="342900" lvl="0" indent="-342900" algn="r" rtl="1">
              <a:lnSpc>
                <a:spcPct val="107000"/>
              </a:lnSpc>
              <a:buFont typeface="+mj-lt"/>
              <a:buAutoNum type="arabicPeriod"/>
            </a:pPr>
            <a:r>
              <a:rPr lang="he-IL" sz="2400" kern="100" dirty="0">
                <a:effectLst/>
                <a:latin typeface="Aptos" panose="02110004020202020204"/>
                <a:ea typeface="Aptos" panose="02110004020202020204"/>
                <a:cs typeface="Arial" panose="020B0604020202020204" pitchFamily="34" charset="0"/>
              </a:rPr>
              <a:t>משחק / </a:t>
            </a:r>
            <a:r>
              <a:rPr lang="en-US" sz="2400" b="1" kern="100" dirty="0">
                <a:solidFill>
                  <a:schemeClr val="accent5"/>
                </a:solidFill>
                <a:latin typeface="Aptos" panose="02110004020202020204"/>
                <a:cs typeface="Arial" panose="020B0604020202020204" pitchFamily="34" charset="0"/>
              </a:rPr>
              <a:t>Game</a:t>
            </a:r>
            <a:r>
              <a:rPr lang="he-IL" sz="2400" b="1" kern="100" dirty="0">
                <a:solidFill>
                  <a:schemeClr val="accent5"/>
                </a:solidFill>
                <a:latin typeface="Aptos" panose="02110004020202020204"/>
                <a:cs typeface="Arial" panose="020B0604020202020204" pitchFamily="34" charset="0"/>
              </a:rPr>
              <a:t> </a:t>
            </a:r>
            <a:r>
              <a:rPr lang="he-IL" sz="2400" kern="100" dirty="0">
                <a:latin typeface="Aptos" panose="02110004020202020204"/>
                <a:cs typeface="Arial" panose="020B0604020202020204" pitchFamily="34" charset="0"/>
              </a:rPr>
              <a:t>– עד לפתיחת הקלפים מציג ברכה לפי השעה ביום עם שם המשתמש, לאחר פתיחת הקלפים מפעיל את הטיימר וכותב את מספר הזוגות שנמצאו, בעת לחיצה על זוג תופיע הודעת וצליל הצלחה והזוג שנמצא נעלם מהמסך.</a:t>
            </a:r>
            <a:endParaRPr lang="en-US" sz="2400" kern="100" dirty="0">
              <a:latin typeface="Aptos" panose="02110004020202020204"/>
              <a:cs typeface="Arial" panose="020B0604020202020204" pitchFamily="34" charset="0"/>
            </a:endParaRPr>
          </a:p>
          <a:p>
            <a:pPr marL="342900" lvl="0" indent="-342900" algn="r" rtl="1">
              <a:lnSpc>
                <a:spcPct val="107000"/>
              </a:lnSpc>
              <a:buFont typeface="+mj-lt"/>
              <a:buAutoNum type="arabicPeriod"/>
            </a:pPr>
            <a:r>
              <a:rPr lang="he-IL" sz="2400" kern="100" dirty="0" err="1">
                <a:effectLst/>
                <a:latin typeface="Aptos" panose="02110004020202020204"/>
                <a:ea typeface="Aptos" panose="02110004020202020204"/>
                <a:cs typeface="Arial" panose="020B0604020202020204" pitchFamily="34" charset="0"/>
              </a:rPr>
              <a:t>נצחון</a:t>
            </a:r>
            <a:r>
              <a:rPr lang="he-IL" sz="2400" kern="100" dirty="0">
                <a:effectLst/>
                <a:latin typeface="Aptos" panose="02110004020202020204"/>
                <a:ea typeface="Aptos" panose="02110004020202020204"/>
                <a:cs typeface="Arial" panose="020B0604020202020204" pitchFamily="34" charset="0"/>
              </a:rPr>
              <a:t> / </a:t>
            </a:r>
            <a:r>
              <a:rPr lang="en-US" sz="2400" b="1" kern="100" dirty="0">
                <a:solidFill>
                  <a:schemeClr val="accent5"/>
                </a:solidFill>
                <a:latin typeface="Aptos" panose="02110004020202020204"/>
                <a:cs typeface="Arial" panose="020B0604020202020204" pitchFamily="34" charset="0"/>
              </a:rPr>
              <a:t>Win</a:t>
            </a:r>
            <a:r>
              <a:rPr lang="he-IL" sz="2400" kern="100" dirty="0">
                <a:latin typeface="Aptos" panose="02110004020202020204"/>
                <a:ea typeface="Aptos" panose="02110004020202020204"/>
                <a:cs typeface="Arial" panose="020B0604020202020204" pitchFamily="34" charset="0"/>
              </a:rPr>
              <a:t> &amp; </a:t>
            </a:r>
            <a:r>
              <a:rPr lang="he-IL" sz="2400" kern="100" dirty="0">
                <a:effectLst/>
                <a:latin typeface="Aptos" panose="02110004020202020204"/>
                <a:ea typeface="Aptos" panose="02110004020202020204"/>
                <a:cs typeface="Arial" panose="020B0604020202020204" pitchFamily="34" charset="0"/>
              </a:rPr>
              <a:t>הפסד / </a:t>
            </a:r>
            <a:r>
              <a:rPr lang="en-US" sz="2400" b="1" kern="100" dirty="0">
                <a:solidFill>
                  <a:schemeClr val="accent5"/>
                </a:solidFill>
                <a:latin typeface="Aptos" panose="02110004020202020204"/>
                <a:cs typeface="Arial" panose="020B0604020202020204" pitchFamily="34" charset="0"/>
              </a:rPr>
              <a:t>Loss</a:t>
            </a:r>
            <a:r>
              <a:rPr lang="he-IL" sz="2400" kern="100" dirty="0">
                <a:latin typeface="Aptos" panose="02110004020202020204"/>
                <a:ea typeface="Aptos" panose="02110004020202020204"/>
                <a:cs typeface="Arial" panose="020B0604020202020204" pitchFamily="34" charset="0"/>
              </a:rPr>
              <a:t> – כמה זמן היה המשחק, כיתוב </a:t>
            </a:r>
            <a:r>
              <a:rPr lang="he-IL" sz="2400" kern="100" dirty="0" err="1">
                <a:latin typeface="Aptos" panose="02110004020202020204"/>
                <a:ea typeface="Aptos" panose="02110004020202020204"/>
                <a:cs typeface="Arial" panose="020B0604020202020204" pitchFamily="34" charset="0"/>
              </a:rPr>
              <a:t>נצחון</a:t>
            </a:r>
            <a:r>
              <a:rPr lang="he-IL" sz="2400" kern="100" dirty="0">
                <a:latin typeface="Aptos" panose="02110004020202020204"/>
                <a:ea typeface="Aptos" panose="02110004020202020204"/>
                <a:cs typeface="Arial" panose="020B0604020202020204" pitchFamily="34" charset="0"/>
              </a:rPr>
              <a:t> או הפסד בהתאמה וכפתור חזרה למשחק</a:t>
            </a:r>
          </a:p>
          <a:p>
            <a:pPr algn="r" rtl="1">
              <a:lnSpc>
                <a:spcPct val="115000"/>
              </a:lnSpc>
              <a:spcAft>
                <a:spcPts val="800"/>
              </a:spcAft>
            </a:pPr>
            <a:endParaRPr lang="en-US" sz="2400" kern="100" dirty="0">
              <a:effectLst/>
              <a:latin typeface="Aptos" panose="02110004020202020204"/>
              <a:ea typeface="Aptos" panose="02110004020202020204"/>
              <a:cs typeface="Arial" panose="020B0604020202020204" pitchFamily="34" charset="0"/>
            </a:endParaRPr>
          </a:p>
        </p:txBody>
      </p:sp>
    </p:spTree>
    <p:extLst>
      <p:ext uri="{BB962C8B-B14F-4D97-AF65-F5344CB8AC3E}">
        <p14:creationId xmlns:p14="http://schemas.microsoft.com/office/powerpoint/2010/main" val="715973399"/>
      </p:ext>
    </p:extLst>
  </p:cSld>
  <p:clrMapOvr>
    <a:masterClrMapping/>
  </p:clrMapOvr>
  <mc:AlternateContent xmlns:mc="http://schemas.openxmlformats.org/markup-compatibility/2006" xmlns:p14="http://schemas.microsoft.com/office/powerpoint/2010/main">
    <mc:Choice Requires="p14">
      <p:transition>
        <p14:prism dir="r"/>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152400" y="270411"/>
            <a:ext cx="11887200" cy="6317179"/>
          </a:xfrm>
          <a:prstGeom prst="rect">
            <a:avLst/>
          </a:prstGeom>
          <a:noFill/>
        </p:spPr>
        <p:txBody>
          <a:bodyPr wrap="square" lIns="91440" tIns="45720" rIns="91440" bIns="45720">
            <a:spAutoFit/>
          </a:bodyPr>
          <a:lstStyle/>
          <a:p>
            <a:pPr lvl="0" algn="ctr" rtl="1">
              <a:lnSpc>
                <a:spcPct val="107000"/>
              </a:lnSpc>
            </a:pP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הנחיות למשחק:</a:t>
            </a:r>
            <a:br>
              <a:rPr lang="en-US" sz="2400" kern="100" dirty="0">
                <a:effectLst/>
                <a:latin typeface="Aptos" panose="02110004020202020204"/>
                <a:ea typeface="Aptos" panose="02110004020202020204"/>
                <a:cs typeface="Arial" panose="020B0604020202020204" pitchFamily="34" charset="0"/>
              </a:rPr>
            </a:br>
            <a:endParaRPr lang="he-IL"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המשחק שמוצג לפניכם הינו משחק הזיכרון.</a:t>
            </a:r>
          </a:p>
          <a:p>
            <a:pPr algn="r" rtl="1">
              <a:lnSpc>
                <a:spcPct val="115000"/>
              </a:lnSpc>
              <a:spcAft>
                <a:spcPts val="800"/>
              </a:spcAft>
            </a:pPr>
            <a:br>
              <a:rPr lang="en-US" sz="2400" kern="100" dirty="0">
                <a:effectLst/>
                <a:latin typeface="Aptos" panose="02110004020202020204"/>
                <a:ea typeface="Aptos" panose="02110004020202020204"/>
                <a:cs typeface="Arial" panose="020B0604020202020204" pitchFamily="34" charset="0"/>
              </a:rPr>
            </a:br>
            <a:r>
              <a:rPr lang="he-IL" sz="2400" kern="100" dirty="0">
                <a:solidFill>
                  <a:srgbClr val="A02B93"/>
                </a:solidFill>
                <a:effectLst/>
                <a:latin typeface="Aptos" panose="02110004020202020204"/>
                <a:ea typeface="Aptos" panose="02110004020202020204"/>
                <a:cs typeface="Arial" panose="020B0604020202020204" pitchFamily="34" charset="0"/>
              </a:rPr>
              <a:t>תזכורת, </a:t>
            </a:r>
            <a:r>
              <a:rPr lang="he-IL" sz="2400" kern="100" dirty="0">
                <a:solidFill>
                  <a:srgbClr val="A02B93"/>
                </a:solidFill>
                <a:latin typeface="Aptos" panose="02110004020202020204"/>
                <a:ea typeface="Aptos" panose="02110004020202020204"/>
                <a:cs typeface="Arial" panose="020B0604020202020204" pitchFamily="34" charset="0"/>
              </a:rPr>
              <a:t>כ</a:t>
            </a:r>
            <a:r>
              <a:rPr lang="he-IL" sz="2400" kern="100" dirty="0">
                <a:solidFill>
                  <a:srgbClr val="A02B93"/>
                </a:solidFill>
                <a:effectLst/>
                <a:latin typeface="Aptos" panose="02110004020202020204"/>
                <a:ea typeface="Aptos" panose="02110004020202020204"/>
                <a:cs typeface="Arial" panose="020B0604020202020204" pitchFamily="34" charset="0"/>
              </a:rPr>
              <a:t>ללי המשחק: </a:t>
            </a:r>
            <a:br>
              <a:rPr lang="en-US" sz="2400" kern="100" dirty="0">
                <a:effectLst/>
                <a:latin typeface="Aptos" panose="02110004020202020204"/>
                <a:ea typeface="Aptos" panose="02110004020202020204"/>
                <a:cs typeface="Arial" panose="020B0604020202020204" pitchFamily="34" charset="0"/>
              </a:rPr>
            </a:br>
            <a:r>
              <a:rPr lang="he-IL" sz="2400" kern="100" dirty="0">
                <a:effectLst/>
                <a:latin typeface="Aptos" panose="02110004020202020204"/>
                <a:ea typeface="Aptos" panose="02110004020202020204"/>
                <a:cs typeface="Arial" panose="020B0604020202020204" pitchFamily="34" charset="0"/>
              </a:rPr>
              <a:t>הקלפים מוצגים הפ</a:t>
            </a:r>
            <a:r>
              <a:rPr lang="he-IL" sz="2400" kern="100" dirty="0">
                <a:latin typeface="Aptos" panose="02110004020202020204"/>
                <a:ea typeface="Aptos" panose="02110004020202020204"/>
                <a:cs typeface="Arial" panose="020B0604020202020204" pitchFamily="34" charset="0"/>
              </a:rPr>
              <a:t>וכים </a:t>
            </a:r>
            <a:r>
              <a:rPr lang="he-IL" sz="2400" kern="100" dirty="0">
                <a:effectLst/>
                <a:latin typeface="Aptos" panose="02110004020202020204"/>
                <a:ea typeface="Aptos" panose="02110004020202020204"/>
                <a:cs typeface="Arial" panose="020B0604020202020204" pitchFamily="34" charset="0"/>
              </a:rPr>
              <a:t>בעת לחיצה הקלף מתהפך ויש למצוא וללחוץ על הקלף שתואם לו.</a:t>
            </a:r>
          </a:p>
          <a:p>
            <a:pPr algn="r" rtl="1">
              <a:lnSpc>
                <a:spcPct val="115000"/>
              </a:lnSpc>
              <a:spcAft>
                <a:spcPts val="800"/>
              </a:spcAft>
            </a:pPr>
            <a:r>
              <a:rPr lang="he-IL" sz="2400" kern="100" dirty="0">
                <a:latin typeface="Aptos" panose="02110004020202020204"/>
                <a:ea typeface="Aptos" panose="02110004020202020204"/>
                <a:cs typeface="Arial" panose="020B0604020202020204" pitchFamily="34" charset="0"/>
              </a:rPr>
              <a:t>(</a:t>
            </a:r>
            <a:r>
              <a:rPr lang="he-IL" sz="2400" kern="100" dirty="0">
                <a:effectLst/>
                <a:latin typeface="Aptos" panose="02110004020202020204"/>
                <a:ea typeface="Aptos" panose="02110004020202020204"/>
                <a:cs typeface="Arial" panose="020B0604020202020204" pitchFamily="34" charset="0"/>
              </a:rPr>
              <a:t>ניתן להפוך עד ל2 קלפים בפעם.)</a:t>
            </a:r>
          </a:p>
          <a:p>
            <a:pPr algn="r" rtl="1">
              <a:lnSpc>
                <a:spcPct val="115000"/>
              </a:lnSpc>
              <a:spcAft>
                <a:spcPts val="800"/>
              </a:spcAft>
            </a:pPr>
            <a:endParaRPr lang="he-IL"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he-IL" sz="2400" kern="100" dirty="0">
                <a:latin typeface="Aptos" panose="02110004020202020204"/>
                <a:ea typeface="Aptos" panose="02110004020202020204"/>
                <a:cs typeface="Arial" panose="020B0604020202020204" pitchFamily="34" charset="0"/>
              </a:rPr>
              <a:t>שים ❤ לטיימר.</a:t>
            </a:r>
          </a:p>
          <a:p>
            <a:pPr algn="r" rtl="1">
              <a:lnSpc>
                <a:spcPct val="115000"/>
              </a:lnSpc>
              <a:spcAft>
                <a:spcPts val="800"/>
              </a:spcAft>
            </a:pPr>
            <a:endParaRPr lang="he-IL" sz="2400" kern="100" dirty="0">
              <a:effectLst/>
              <a:latin typeface="Aptos" panose="02110004020202020204"/>
              <a:ea typeface="Aptos" panose="02110004020202020204"/>
              <a:cs typeface="Arial" panose="020B0604020202020204" pitchFamily="34" charset="0"/>
            </a:endParaRPr>
          </a:p>
          <a:p>
            <a:pPr algn="ctr" rtl="1">
              <a:lnSpc>
                <a:spcPct val="115000"/>
              </a:lnSpc>
              <a:spcAft>
                <a:spcPts val="800"/>
              </a:spcAft>
            </a:pPr>
            <a:r>
              <a:rPr lang="he-IL" sz="2400" kern="100" dirty="0">
                <a:solidFill>
                  <a:srgbClr val="A02B93"/>
                </a:solidFill>
                <a:latin typeface="Aptos" panose="02110004020202020204"/>
                <a:ea typeface="Aptos" panose="02110004020202020204"/>
                <a:cs typeface="Arial" panose="020B0604020202020204" pitchFamily="34" charset="0"/>
              </a:rPr>
              <a:t>בהצלחה!!!</a:t>
            </a:r>
          </a:p>
          <a:p>
            <a:pPr algn="ctr" rtl="1">
              <a:lnSpc>
                <a:spcPct val="115000"/>
              </a:lnSpc>
              <a:spcAft>
                <a:spcPts val="800"/>
              </a:spcAft>
            </a:pPr>
            <a:r>
              <a:rPr lang="he-IL" sz="2400" kern="100" dirty="0">
                <a:solidFill>
                  <a:srgbClr val="A02B93"/>
                </a:solidFill>
                <a:effectLst/>
                <a:latin typeface="Aptos" panose="02110004020202020204"/>
                <a:ea typeface="Aptos" panose="02110004020202020204"/>
                <a:cs typeface="Arial" panose="020B0604020202020204" pitchFamily="34" charset="0"/>
              </a:rPr>
              <a:t>משחק מהנה!</a:t>
            </a:r>
            <a:endParaRPr lang="en-US" sz="2400" kern="100" dirty="0">
              <a:solidFill>
                <a:srgbClr val="A02B93"/>
              </a:solidFill>
              <a:effectLst/>
              <a:latin typeface="Aptos" panose="02110004020202020204"/>
              <a:ea typeface="Aptos" panose="02110004020202020204"/>
              <a:cs typeface="Arial" panose="020B0604020202020204" pitchFamily="34" charset="0"/>
            </a:endParaRPr>
          </a:p>
        </p:txBody>
      </p:sp>
    </p:spTree>
    <p:extLst>
      <p:ext uri="{BB962C8B-B14F-4D97-AF65-F5344CB8AC3E}">
        <p14:creationId xmlns:p14="http://schemas.microsoft.com/office/powerpoint/2010/main" val="4202387419"/>
      </p:ext>
    </p:extLst>
  </p:cSld>
  <p:clrMapOvr>
    <a:masterClrMapping/>
  </p:clrMapOvr>
  <mc:AlternateContent xmlns:mc="http://schemas.openxmlformats.org/markup-compatibility/2006">
    <mc:Choice xmlns:p14="http://schemas.microsoft.com/office/powerpoint/2010/main" Requires="p14">
      <p:transition>
        <p14:prism dir="r"/>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152400" y="0"/>
            <a:ext cx="11887200" cy="6552435"/>
          </a:xfrm>
          <a:prstGeom prst="rect">
            <a:avLst/>
          </a:prstGeom>
          <a:noFill/>
        </p:spPr>
        <p:txBody>
          <a:bodyPr wrap="square" lIns="91440" tIns="45720" rIns="91440" bIns="45720">
            <a:spAutoFit/>
          </a:bodyPr>
          <a:lstStyle/>
          <a:p>
            <a:pPr algn="ctr" rtl="1">
              <a:lnSpc>
                <a:spcPct val="115000"/>
              </a:lnSpc>
              <a:spcAft>
                <a:spcPts val="800"/>
              </a:spcAft>
            </a:pP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דפי ה</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JS</a:t>
            </a:r>
            <a:r>
              <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 הקיימים:</a:t>
            </a:r>
          </a:p>
          <a:p>
            <a:pPr algn="r" rtl="1">
              <a:lnSpc>
                <a:spcPct val="115000"/>
              </a:lnSpc>
              <a:spcAft>
                <a:spcPts val="800"/>
              </a:spcAft>
            </a:pPr>
            <a:r>
              <a:rPr lang="he-IL" sz="2400" kern="100" dirty="0">
                <a:latin typeface="Aptos" panose="02110004020202020204"/>
                <a:ea typeface="Aptos" panose="02110004020202020204"/>
                <a:cs typeface="Arial" panose="020B0604020202020204" pitchFamily="34" charset="0"/>
              </a:rPr>
              <a:t>עבור המשחק:</a:t>
            </a:r>
            <a:br>
              <a:rPr lang="en-US" sz="2400" kern="100" dirty="0">
                <a:latin typeface="Aptos" panose="02110004020202020204"/>
                <a:ea typeface="Aptos" panose="02110004020202020204"/>
                <a:cs typeface="Arial" panose="020B0604020202020204" pitchFamily="34" charset="0"/>
              </a:rPr>
            </a:br>
            <a:r>
              <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Game.JS</a:t>
            </a:r>
            <a:r>
              <a:rPr lang="he-IL"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a:t>
            </a:r>
            <a:endPar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הסבר על כל פונקציה:</a:t>
            </a: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en-US" sz="2400" b="1" kern="100" dirty="0">
                <a:solidFill>
                  <a:schemeClr val="accent5"/>
                </a:solidFill>
                <a:latin typeface="Aptos" panose="02110004020202020204"/>
                <a:cs typeface="Arial" panose="020B0604020202020204" pitchFamily="34" charset="0"/>
              </a:rPr>
              <a:t>load()</a:t>
            </a:r>
            <a:r>
              <a:rPr lang="he-IL" sz="2400" b="1" kern="100" dirty="0">
                <a:solidFill>
                  <a:schemeClr val="accent5"/>
                </a:solidFill>
                <a:latin typeface="Aptos" panose="02110004020202020204"/>
                <a:cs typeface="Arial" panose="020B0604020202020204" pitchFamily="34" charset="0"/>
              </a:rPr>
              <a:t> - </a:t>
            </a:r>
            <a:r>
              <a:rPr lang="he-IL" sz="2400" kern="100" dirty="0">
                <a:effectLst/>
                <a:latin typeface="Aptos" panose="02110004020202020204"/>
                <a:ea typeface="Aptos" panose="02110004020202020204"/>
                <a:cs typeface="Arial" panose="020B0604020202020204" pitchFamily="34" charset="0"/>
              </a:rPr>
              <a:t>פונקציה זו נקראת כאשר הדף נטען</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היא קוראת לפונקציית</a:t>
            </a:r>
            <a:r>
              <a:rPr lang="en-US" sz="2400" kern="100" dirty="0">
                <a:effectLst/>
                <a:latin typeface="Aptos" panose="02110004020202020204"/>
                <a:ea typeface="Aptos" panose="02110004020202020204"/>
                <a:cs typeface="Arial" panose="020B0604020202020204" pitchFamily="34" charset="0"/>
              </a:rPr>
              <a:t> </a:t>
            </a:r>
            <a:r>
              <a:rPr lang="en-US" sz="2400" b="1" kern="100" dirty="0" err="1">
                <a:solidFill>
                  <a:schemeClr val="accent5"/>
                </a:solidFill>
                <a:latin typeface="Aptos" panose="02110004020202020204"/>
                <a:cs typeface="Arial" panose="020B0604020202020204" pitchFamily="34" charset="0"/>
              </a:rPr>
              <a:t>byTime</a:t>
            </a:r>
            <a:r>
              <a:rPr lang="en-US" sz="2400" b="1" kern="100" dirty="0">
                <a:solidFill>
                  <a:schemeClr val="accent5"/>
                </a:solidFill>
                <a:latin typeface="Aptos" panose="02110004020202020204"/>
                <a:cs typeface="Arial" panose="020B0604020202020204" pitchFamily="34" charset="0"/>
              </a:rPr>
              <a:t>()  </a:t>
            </a:r>
            <a:r>
              <a:rPr lang="he-IL" sz="2400" kern="100" dirty="0">
                <a:effectLst/>
                <a:latin typeface="Arial" panose="020B0604020202020204" pitchFamily="34" charset="0"/>
                <a:ea typeface="Aptos" panose="02110004020202020204"/>
                <a:cs typeface="Arial" panose="020B0604020202020204" pitchFamily="34" charset="0"/>
              </a:rPr>
              <a:t>כדי לעדכן את הברכה בהתאם לשעה ביום</a:t>
            </a:r>
            <a:r>
              <a:rPr lang="he-IL" sz="2400" kern="100" dirty="0">
                <a:latin typeface="Aptos" panose="02110004020202020204"/>
                <a:ea typeface="Aptos" panose="02110004020202020204"/>
                <a:cs typeface="Arial" panose="020B0604020202020204" pitchFamily="34" charset="0"/>
              </a:rPr>
              <a:t>, ומציגה הודעה ביחד עם שם המשתמש.</a:t>
            </a: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היא גם קוראת ל</a:t>
            </a:r>
            <a:r>
              <a:rPr lang="en-US" sz="2400" b="1" kern="100" dirty="0">
                <a:solidFill>
                  <a:schemeClr val="accent5"/>
                </a:solidFill>
                <a:latin typeface="Aptos" panose="02110004020202020204"/>
                <a:cs typeface="Arial" panose="020B0604020202020204" pitchFamily="34" charset="0"/>
              </a:rPr>
              <a:t>-</a:t>
            </a:r>
            <a:r>
              <a:rPr lang="en-US" sz="2400" b="1" kern="100" dirty="0" err="1">
                <a:solidFill>
                  <a:schemeClr val="accent5"/>
                </a:solidFill>
                <a:latin typeface="Aptos" panose="02110004020202020204"/>
                <a:cs typeface="Arial" panose="020B0604020202020204" pitchFamily="34" charset="0"/>
              </a:rPr>
              <a:t>startGame</a:t>
            </a:r>
            <a:r>
              <a:rPr lang="en-US" sz="2400" b="1" kern="100" dirty="0">
                <a:solidFill>
                  <a:schemeClr val="accent5"/>
                </a:solidFill>
                <a:latin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כדי להתחיל את המשחק</a:t>
            </a:r>
            <a:r>
              <a:rPr lang="en-US" sz="2400" kern="100" dirty="0">
                <a:effectLst/>
                <a:latin typeface="Aptos" panose="02110004020202020204"/>
                <a:ea typeface="Aptos" panose="02110004020202020204"/>
                <a:cs typeface="Arial" panose="020B0604020202020204" pitchFamily="34" charset="0"/>
              </a:rPr>
              <a:t>.</a:t>
            </a:r>
            <a:br>
              <a:rPr lang="en-US" sz="2400" kern="100" dirty="0">
                <a:effectLst/>
                <a:latin typeface="Aptos" panose="02110004020202020204"/>
                <a:ea typeface="Aptos" panose="02110004020202020204"/>
                <a:cs typeface="Arial" panose="020B0604020202020204" pitchFamily="34" charset="0"/>
              </a:rPr>
            </a:br>
            <a:r>
              <a:rPr lang="en-US" sz="2400" b="1" kern="100" dirty="0" err="1">
                <a:solidFill>
                  <a:schemeClr val="accent5"/>
                </a:solidFill>
                <a:latin typeface="Aptos" panose="02110004020202020204"/>
                <a:cs typeface="Arial" panose="020B0604020202020204" pitchFamily="34" charset="0"/>
              </a:rPr>
              <a:t>startGame</a:t>
            </a:r>
            <a:r>
              <a:rPr lang="en-US" sz="2400" b="1" kern="100" dirty="0">
                <a:solidFill>
                  <a:schemeClr val="accent5"/>
                </a:solidFill>
                <a:latin typeface="Aptos" panose="02110004020202020204"/>
                <a:cs typeface="Arial" panose="020B0604020202020204" pitchFamily="34" charset="0"/>
              </a:rPr>
              <a:t>()</a:t>
            </a:r>
            <a:r>
              <a:rPr lang="he-IL" sz="2400" b="1" kern="100" dirty="0">
                <a:solidFill>
                  <a:schemeClr val="accent5"/>
                </a:solidFill>
                <a:latin typeface="Aptos" panose="02110004020202020204"/>
                <a:cs typeface="Arial" panose="020B0604020202020204" pitchFamily="34" charset="0"/>
              </a:rPr>
              <a:t>:</a:t>
            </a: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פונקציה זו מופעלת כאשר המשתמש לוחץ על כפתור 'משחק חדש'</a:t>
            </a:r>
            <a:r>
              <a:rPr lang="he-IL" sz="2400" kern="100" dirty="0">
                <a:latin typeface="Aptos" panose="02110004020202020204"/>
                <a:ea typeface="Aptos" panose="02110004020202020204"/>
                <a:cs typeface="Arial" panose="020B0604020202020204" pitchFamily="34" charset="0"/>
              </a:rPr>
              <a:t>.</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היא גורמת להתחלת המשחק,</a:t>
            </a: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רושמת את שעת ההתחלה</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מאפסת את מערך</a:t>
            </a:r>
            <a:r>
              <a:rPr lang="en-US" sz="2400" kern="100" dirty="0">
                <a:effectLst/>
                <a:latin typeface="Aptos" panose="02110004020202020204"/>
                <a:ea typeface="Aptos" panose="02110004020202020204"/>
                <a:cs typeface="Arial" panose="020B0604020202020204" pitchFamily="34" charset="0"/>
              </a:rPr>
              <a:t> </a:t>
            </a:r>
            <a:r>
              <a:rPr lang="en-US" sz="2400" kern="100" dirty="0" err="1">
                <a:effectLst/>
                <a:latin typeface="Aptos" panose="02110004020202020204"/>
                <a:ea typeface="Aptos" panose="02110004020202020204"/>
                <a:cs typeface="Arial" panose="020B0604020202020204" pitchFamily="34" charset="0"/>
              </a:rPr>
              <a:t>flippedCards</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ואת הספירה</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הופכת את הקלפים לגלויים</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מערבבת את הקלפים באמצעות</a:t>
            </a:r>
            <a:r>
              <a:rPr lang="en-US" sz="2400" kern="100" dirty="0">
                <a:effectLst/>
                <a:latin typeface="Aptos" panose="02110004020202020204"/>
                <a:ea typeface="Aptos" panose="02110004020202020204"/>
                <a:cs typeface="Arial" panose="020B0604020202020204" pitchFamily="34" charset="0"/>
              </a:rPr>
              <a:t> </a:t>
            </a:r>
            <a:r>
              <a:rPr lang="en-US" sz="2400" b="1" kern="100" dirty="0" err="1">
                <a:solidFill>
                  <a:schemeClr val="accent5"/>
                </a:solidFill>
                <a:latin typeface="Aptos" panose="02110004020202020204"/>
                <a:cs typeface="Arial" panose="020B0604020202020204" pitchFamily="34" charset="0"/>
              </a:rPr>
              <a:t>mixCards</a:t>
            </a:r>
            <a:r>
              <a:rPr lang="en-US" sz="2400" b="1" kern="100" dirty="0">
                <a:solidFill>
                  <a:schemeClr val="accent5"/>
                </a:solidFill>
                <a:latin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מפעילה את טיימר הספירה באמצעות</a:t>
            </a:r>
            <a:r>
              <a:rPr lang="en-US" sz="2400" b="1" kern="100" dirty="0">
                <a:solidFill>
                  <a:schemeClr val="accent5"/>
                </a:solidFill>
                <a:latin typeface="Aptos" panose="02110004020202020204"/>
                <a:cs typeface="Arial" panose="020B0604020202020204" pitchFamily="34" charset="0"/>
              </a:rPr>
              <a:t> timer() </a:t>
            </a: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מעדכנת את לוח התוצאות.</a:t>
            </a:r>
            <a:endParaRPr lang="en-US" sz="2400" kern="100" dirty="0">
              <a:effectLst/>
              <a:latin typeface="Aptos" panose="02110004020202020204"/>
              <a:ea typeface="Aptos" panose="02110004020202020204"/>
              <a:cs typeface="Arial" panose="020B0604020202020204" pitchFamily="34" charset="0"/>
            </a:endParaRPr>
          </a:p>
        </p:txBody>
      </p:sp>
    </p:spTree>
    <p:extLst>
      <p:ext uri="{BB962C8B-B14F-4D97-AF65-F5344CB8AC3E}">
        <p14:creationId xmlns:p14="http://schemas.microsoft.com/office/powerpoint/2010/main" val="3804066006"/>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152400" y="0"/>
            <a:ext cx="11887200" cy="5677132"/>
          </a:xfrm>
          <a:prstGeom prst="rect">
            <a:avLst/>
          </a:prstGeom>
          <a:noFill/>
        </p:spPr>
        <p:txBody>
          <a:bodyPr wrap="square" lIns="91440" tIns="45720" rIns="91440" bIns="45720">
            <a:spAutoFit/>
          </a:bodyPr>
          <a:lstStyle/>
          <a:p>
            <a:pPr algn="r" rtl="1">
              <a:lnSpc>
                <a:spcPct val="115000"/>
              </a:lnSpc>
              <a:spcAft>
                <a:spcPts val="800"/>
              </a:spcAft>
            </a:pPr>
            <a:r>
              <a:rPr lang="en-US" sz="2400" kern="100" dirty="0">
                <a:effectLst/>
                <a:latin typeface="Aptos" panose="02110004020202020204"/>
                <a:ea typeface="Aptos" panose="02110004020202020204"/>
                <a:cs typeface="Arial" panose="020B0604020202020204" pitchFamily="34" charset="0"/>
              </a:rPr>
              <a:t> </a:t>
            </a:r>
          </a:p>
          <a:p>
            <a:pPr algn="r" rtl="1">
              <a:lnSpc>
                <a:spcPct val="115000"/>
              </a:lnSpc>
              <a:spcAft>
                <a:spcPts val="800"/>
              </a:spcAft>
            </a:pPr>
            <a:r>
              <a:rPr lang="en-US" sz="2400" kern="100" dirty="0">
                <a:solidFill>
                  <a:srgbClr val="3C4043"/>
                </a:solidFill>
                <a:effectLst/>
                <a:latin typeface="Roboto"/>
                <a:ea typeface="Aptos" panose="02110004020202020204"/>
                <a:cs typeface="Arial" panose="020B0604020202020204" pitchFamily="34" charset="0"/>
              </a:rPr>
              <a:t> </a:t>
            </a:r>
            <a:r>
              <a:rPr lang="en-US" sz="2400" b="1" kern="100" dirty="0">
                <a:solidFill>
                  <a:schemeClr val="accent5"/>
                </a:solidFill>
                <a:latin typeface="Aptos" panose="02110004020202020204"/>
                <a:cs typeface="Arial" panose="020B0604020202020204" pitchFamily="34" charset="0"/>
              </a:rPr>
              <a:t>:</a:t>
            </a:r>
            <a:r>
              <a:rPr lang="en-US" sz="2400" b="1" kern="100" dirty="0" err="1">
                <a:solidFill>
                  <a:schemeClr val="accent5"/>
                </a:solidFill>
                <a:latin typeface="Aptos" panose="02110004020202020204"/>
                <a:cs typeface="Arial" panose="020B0604020202020204" pitchFamily="34" charset="0"/>
              </a:rPr>
              <a:t>matchingCards</a:t>
            </a:r>
            <a:r>
              <a:rPr lang="en-US" sz="2400" b="1" kern="100" dirty="0">
                <a:solidFill>
                  <a:schemeClr val="accent5"/>
                </a:solidFill>
                <a:latin typeface="Aptos" panose="02110004020202020204"/>
                <a:cs typeface="Arial" panose="020B0604020202020204" pitchFamily="34" charset="0"/>
              </a:rPr>
              <a:t>(</a:t>
            </a:r>
            <a:r>
              <a:rPr lang="en-US" sz="2400" b="1" kern="100" dirty="0" err="1">
                <a:solidFill>
                  <a:schemeClr val="accent5"/>
                </a:solidFill>
                <a:latin typeface="Aptos" panose="02110004020202020204"/>
                <a:cs typeface="Arial" panose="020B0604020202020204" pitchFamily="34" charset="0"/>
              </a:rPr>
              <a:t>flippedCards</a:t>
            </a:r>
            <a:r>
              <a:rPr lang="en-US" sz="2400" b="1" kern="100" dirty="0">
                <a:solidFill>
                  <a:schemeClr val="accent5"/>
                </a:solidFill>
                <a:latin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פונקציה זו בודקת האם שני הקלפים שהפכנו תואמים</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אם הם תואמים, היא מגדילה את הספירה, מעדכנת את לוח התוצאות ומציגה הודעת וצליל ההצלחה.</a:t>
            </a:r>
            <a:br>
              <a:rPr lang="en-US" sz="2400" kern="100" dirty="0">
                <a:effectLst/>
                <a:latin typeface="Aptos" panose="02110004020202020204"/>
                <a:ea typeface="Aptos" panose="02110004020202020204"/>
                <a:cs typeface="Arial" panose="020B0604020202020204" pitchFamily="34" charset="0"/>
              </a:rPr>
            </a:br>
            <a:r>
              <a:rPr lang="he-IL" sz="2400" kern="100" dirty="0">
                <a:effectLst/>
                <a:latin typeface="Aptos" panose="02110004020202020204"/>
                <a:ea typeface="Aptos" panose="02110004020202020204"/>
                <a:cs typeface="Arial" panose="020B0604020202020204" pitchFamily="34" charset="0"/>
              </a:rPr>
              <a:t>אם כל זוגות הקלפים נמצאו (בדיקה ע"י  </a:t>
            </a:r>
            <a:r>
              <a:rPr lang="en-US" sz="2400" kern="100" dirty="0" err="1">
                <a:effectLst/>
                <a:latin typeface="Aptos" panose="02110004020202020204"/>
                <a:ea typeface="Aptos" panose="02110004020202020204"/>
                <a:cs typeface="Arial" panose="020B0604020202020204" pitchFamily="34" charset="0"/>
              </a:rPr>
              <a:t>cards.length</a:t>
            </a:r>
            <a:r>
              <a:rPr lang="en-US" sz="2400" kern="100" dirty="0">
                <a:effectLst/>
                <a:latin typeface="Aptos" panose="02110004020202020204"/>
                <a:ea typeface="Aptos" panose="02110004020202020204"/>
                <a:cs typeface="Arial" panose="020B0604020202020204" pitchFamily="34" charset="0"/>
              </a:rPr>
              <a:t> / 2 == count</a:t>
            </a:r>
            <a:r>
              <a:rPr lang="he-IL" sz="2400" kern="100" dirty="0">
                <a:effectLst/>
                <a:latin typeface="Aptos" panose="02110004020202020204"/>
                <a:ea typeface="Aptos" panose="02110004020202020204"/>
                <a:cs typeface="Arial" panose="020B0604020202020204" pitchFamily="34" charset="0"/>
              </a:rPr>
              <a:t>)</a:t>
            </a:r>
            <a:r>
              <a:rPr lang="he-IL" sz="2400" kern="100" dirty="0">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היא קוראת ל</a:t>
            </a:r>
            <a:r>
              <a:rPr lang="en-US" sz="2400" b="1" kern="100" dirty="0">
                <a:solidFill>
                  <a:schemeClr val="accent5"/>
                </a:solidFill>
                <a:latin typeface="Aptos" panose="02110004020202020204"/>
                <a:cs typeface="Arial" panose="020B0604020202020204" pitchFamily="34" charset="0"/>
              </a:rPr>
              <a:t>win()</a:t>
            </a:r>
            <a:r>
              <a:rPr lang="he-IL" sz="2400" kern="100" dirty="0">
                <a:effectLst/>
                <a:latin typeface="Aptos" panose="02110004020202020204"/>
                <a:ea typeface="Aptos" panose="02110004020202020204"/>
                <a:cs typeface="Arial" panose="020B0604020202020204" pitchFamily="34" charset="0"/>
              </a:rPr>
              <a:t>.</a:t>
            </a:r>
            <a:br>
              <a:rPr lang="en-US" sz="2400" kern="100" dirty="0">
                <a:effectLst/>
                <a:latin typeface="Aptos" panose="02110004020202020204"/>
                <a:ea typeface="Aptos" panose="02110004020202020204"/>
                <a:cs typeface="Arial" panose="020B0604020202020204" pitchFamily="34" charset="0"/>
              </a:rPr>
            </a:br>
            <a:br>
              <a:rPr lang="en-US" sz="2400" kern="100" dirty="0">
                <a:effectLst/>
                <a:latin typeface="Aptos" panose="02110004020202020204"/>
                <a:ea typeface="Aptos" panose="02110004020202020204"/>
                <a:cs typeface="Arial" panose="020B0604020202020204" pitchFamily="34" charset="0"/>
              </a:rPr>
            </a:br>
            <a:r>
              <a:rPr lang="en-US" sz="2400" kern="100" dirty="0">
                <a:effectLst/>
                <a:latin typeface="Aptos" panose="02110004020202020204"/>
                <a:ea typeface="Aptos" panose="02110004020202020204"/>
                <a:cs typeface="Arial" panose="020B0604020202020204" pitchFamily="34" charset="0"/>
              </a:rPr>
              <a:t> :</a:t>
            </a:r>
            <a:r>
              <a:rPr lang="en-US" sz="2400" b="1" kern="100" dirty="0" err="1">
                <a:solidFill>
                  <a:schemeClr val="accent5"/>
                </a:solidFill>
                <a:latin typeface="Aptos" panose="02110004020202020204"/>
                <a:cs typeface="Arial" panose="020B0604020202020204" pitchFamily="34" charset="0"/>
              </a:rPr>
              <a:t>updateScoreboard</a:t>
            </a:r>
            <a:r>
              <a:rPr lang="en-US" sz="2400" b="1" kern="100" dirty="0">
                <a:solidFill>
                  <a:schemeClr val="accent5"/>
                </a:solidFill>
                <a:latin typeface="Aptos" panose="02110004020202020204"/>
                <a:cs typeface="Arial" panose="020B0604020202020204" pitchFamily="34" charset="0"/>
              </a:rPr>
              <a:t>()</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פונקציה זו מעדכנת את טקסט לוח התוצאות כדי להראות כמה זוגות קלפים נמצאו על ידי המשתמש</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באמצעות המשתנה</a:t>
            </a:r>
            <a:r>
              <a:rPr lang="en-US" sz="2400" kern="100" dirty="0">
                <a:effectLst/>
                <a:latin typeface="Aptos" panose="02110004020202020204"/>
                <a:ea typeface="Aptos" panose="02110004020202020204"/>
                <a:cs typeface="Arial" panose="020B0604020202020204" pitchFamily="34" charset="0"/>
              </a:rPr>
              <a:t> count:</a:t>
            </a:r>
          </a:p>
          <a:p>
            <a:pPr algn="r" rtl="1">
              <a:lnSpc>
                <a:spcPct val="115000"/>
              </a:lnSpc>
              <a:spcAft>
                <a:spcPts val="800"/>
              </a:spcAft>
            </a:pPr>
            <a:r>
              <a:rPr lang="en-US" sz="2400" b="1" kern="100" dirty="0">
                <a:solidFill>
                  <a:schemeClr val="accent5"/>
                </a:solidFill>
                <a:latin typeface="Aptos" panose="02110004020202020204"/>
                <a:cs typeface="Arial" panose="020B0604020202020204" pitchFamily="34" charset="0"/>
              </a:rPr>
              <a:t>success()</a:t>
            </a:r>
            <a:r>
              <a:rPr lang="he-IL" sz="2400" b="1" kern="100" dirty="0">
                <a:solidFill>
                  <a:schemeClr val="accent5"/>
                </a:solidFill>
                <a:latin typeface="Aptos" panose="02110004020202020204"/>
                <a:cs typeface="Arial" panose="020B0604020202020204" pitchFamily="34" charset="0"/>
              </a:rPr>
              <a:t>:</a:t>
            </a:r>
            <a:br>
              <a:rPr lang="en-US" sz="2400" b="1" kern="100" dirty="0">
                <a:solidFill>
                  <a:schemeClr val="accent5"/>
                </a:solidFill>
                <a:latin typeface="Aptos" panose="02110004020202020204"/>
                <a:cs typeface="Arial" panose="020B0604020202020204" pitchFamily="34" charset="0"/>
              </a:rPr>
            </a:br>
            <a:r>
              <a:rPr lang="he-IL" sz="2400" kern="100" dirty="0">
                <a:effectLst/>
                <a:latin typeface="Aptos" panose="02110004020202020204"/>
                <a:ea typeface="Aptos" panose="02110004020202020204"/>
                <a:cs typeface="Arial" panose="020B0604020202020204" pitchFamily="34" charset="0"/>
              </a:rPr>
              <a:t>משמיעה את צליל ההצלחה, כשזוג קלפים תואם.</a:t>
            </a: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en-US" sz="2400" b="1" kern="100" dirty="0">
                <a:solidFill>
                  <a:schemeClr val="accent5"/>
                </a:solidFill>
                <a:latin typeface="Aptos" panose="02110004020202020204"/>
                <a:cs typeface="Arial" panose="020B0604020202020204" pitchFamily="34" charset="0"/>
              </a:rPr>
              <a:t>win() </a:t>
            </a:r>
            <a:r>
              <a:rPr lang="he-IL" sz="2400" b="1" kern="100" dirty="0">
                <a:solidFill>
                  <a:schemeClr val="accent5"/>
                </a:solidFill>
                <a:latin typeface="Aptos" panose="02110004020202020204"/>
                <a:cs typeface="Arial" panose="020B0604020202020204" pitchFamily="34" charset="0"/>
              </a:rPr>
              <a:t>:</a:t>
            </a:r>
            <a:endParaRPr lang="en-US" sz="2400" b="1" kern="100" dirty="0">
              <a:solidFill>
                <a:schemeClr val="accent5"/>
              </a:solidFill>
              <a:latin typeface="Aptos" panose="02110004020202020204"/>
              <a:cs typeface="Arial" panose="020B0604020202020204" pitchFamily="34"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מפנה את המשתמש לדף ניצחון כאשר הוא מוצא את כל זוגות הקלפים</a:t>
            </a:r>
            <a:r>
              <a:rPr lang="en-US" sz="2400" kern="100" dirty="0">
                <a:effectLst/>
                <a:latin typeface="Aptos" panose="02110004020202020204"/>
                <a:ea typeface="Aptos" panose="02110004020202020204"/>
                <a:cs typeface="Arial" panose="020B0604020202020204" pitchFamily="34" charset="0"/>
              </a:rPr>
              <a:t>.</a:t>
            </a:r>
          </a:p>
          <a:p>
            <a:pPr algn="r" rtl="1">
              <a:lnSpc>
                <a:spcPct val="115000"/>
              </a:lnSpc>
              <a:spcAft>
                <a:spcPts val="800"/>
              </a:spcAft>
            </a:pPr>
            <a:endParaRPr lang="en-US" sz="2400" kern="100" dirty="0">
              <a:effectLst/>
              <a:latin typeface="Aptos" panose="02110004020202020204"/>
              <a:ea typeface="Aptos" panose="02110004020202020204"/>
              <a:cs typeface="Arial" panose="020B0604020202020204" pitchFamily="34" charset="0"/>
            </a:endParaRPr>
          </a:p>
        </p:txBody>
      </p:sp>
    </p:spTree>
    <p:extLst>
      <p:ext uri="{BB962C8B-B14F-4D97-AF65-F5344CB8AC3E}">
        <p14:creationId xmlns:p14="http://schemas.microsoft.com/office/powerpoint/2010/main" val="2803110566"/>
      </p:ext>
    </p:extLst>
  </p:cSld>
  <p:clrMapOvr>
    <a:masterClrMapping/>
  </p:clrMapOvr>
  <mc:AlternateContent xmlns:mc="http://schemas.openxmlformats.org/markup-compatibility/2006" xmlns:p14="http://schemas.microsoft.com/office/powerpoint/2010/main">
    <mc:Choice Requires="p14">
      <p:transition>
        <p14:prism dir="r"/>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152400" y="0"/>
            <a:ext cx="11887200" cy="5455211"/>
          </a:xfrm>
          <a:prstGeom prst="rect">
            <a:avLst/>
          </a:prstGeom>
          <a:noFill/>
        </p:spPr>
        <p:txBody>
          <a:bodyPr wrap="square" lIns="91440" tIns="45720" rIns="91440" bIns="45720">
            <a:spAutoFit/>
          </a:bodyPr>
          <a:lstStyle/>
          <a:p>
            <a:pPr algn="r" rtl="1">
              <a:lnSpc>
                <a:spcPct val="115000"/>
              </a:lnSpc>
              <a:spcAft>
                <a:spcPts val="800"/>
              </a:spcAft>
            </a:pP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en-US" sz="2400" b="1" kern="100" dirty="0">
                <a:solidFill>
                  <a:schemeClr val="accent5"/>
                </a:solidFill>
                <a:latin typeface="Aptos" panose="02110004020202020204"/>
                <a:cs typeface="Arial" panose="020B0604020202020204" pitchFamily="34" charset="0"/>
              </a:rPr>
              <a:t>endgame() </a:t>
            </a:r>
            <a:r>
              <a:rPr lang="he-IL" sz="2400" b="1" kern="100" dirty="0">
                <a:solidFill>
                  <a:schemeClr val="accent5"/>
                </a:solidFill>
                <a:latin typeface="Aptos" panose="02110004020202020204"/>
                <a:cs typeface="Arial" panose="020B0604020202020204" pitchFamily="34" charset="0"/>
              </a:rPr>
              <a:t>:</a:t>
            </a:r>
          </a:p>
          <a:p>
            <a:pPr>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פונקציה זו מטפלת בסוף המשחק</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היא מחשבת את הזמן הכולל של המשחק בשניות, וממירה אותו לדקות ושניות</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היא מאחסנת מידע זה ב</a:t>
            </a:r>
            <a:r>
              <a:rPr lang="en-US" sz="2400" kern="100" dirty="0" err="1">
                <a:effectLst/>
                <a:latin typeface="Aptos" panose="02110004020202020204"/>
                <a:ea typeface="Aptos" panose="02110004020202020204"/>
                <a:cs typeface="Arial" panose="020B0604020202020204" pitchFamily="34" charset="0"/>
              </a:rPr>
              <a:t>localStorage</a:t>
            </a:r>
            <a:r>
              <a:rPr lang="he-IL" sz="2400" kern="100" dirty="0">
                <a:effectLst/>
                <a:latin typeface="Aptos" panose="02110004020202020204"/>
                <a:ea typeface="Aptos" panose="02110004020202020204"/>
                <a:cs typeface="Arial" panose="020B0604020202020204" pitchFamily="34" charset="0"/>
              </a:rPr>
              <a:t>,</a:t>
            </a:r>
            <a:endParaRPr lang="en-US" sz="2400" b="0" dirty="0">
              <a:solidFill>
                <a:srgbClr val="CCCCCC"/>
              </a:solidFill>
              <a:effectLst/>
              <a:latin typeface="Consolas" panose="020B0609020204030204" pitchFamily="49"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ומאפשרת למשתמש לראות כמה זמן לקח לו להשלים את המשחק.</a:t>
            </a:r>
            <a:br>
              <a:rPr lang="en-US" sz="2400" kern="100" dirty="0">
                <a:latin typeface="Aptos" panose="02110004020202020204"/>
                <a:ea typeface="Aptos" panose="02110004020202020204"/>
                <a:cs typeface="Arial" panose="020B0604020202020204" pitchFamily="34" charset="0"/>
              </a:rPr>
            </a:b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en-US" sz="2400" b="1" kern="100" dirty="0">
                <a:solidFill>
                  <a:schemeClr val="accent5"/>
                </a:solidFill>
                <a:latin typeface="Aptos" panose="02110004020202020204"/>
                <a:cs typeface="Arial" panose="020B0604020202020204" pitchFamily="34" charset="0"/>
              </a:rPr>
              <a:t>()timer</a:t>
            </a:r>
            <a:r>
              <a:rPr lang="he-IL" sz="2400" b="1" kern="100" dirty="0">
                <a:solidFill>
                  <a:schemeClr val="accent5"/>
                </a:solidFill>
                <a:latin typeface="Aptos" panose="02110004020202020204"/>
                <a:cs typeface="Arial" panose="020B0604020202020204" pitchFamily="34" charset="0"/>
              </a:rPr>
              <a:t>:</a:t>
            </a:r>
            <a:endParaRPr lang="en-US" sz="2400" b="1" kern="100" dirty="0">
              <a:solidFill>
                <a:schemeClr val="accent5"/>
              </a:solidFill>
              <a:latin typeface="Aptos" panose="02110004020202020204"/>
              <a:cs typeface="Arial" panose="020B0604020202020204" pitchFamily="34" charset="0"/>
            </a:endParaRPr>
          </a:p>
          <a:p>
            <a:pPr algn="r" rtl="1">
              <a:lnSpc>
                <a:spcPct val="115000"/>
              </a:lnSpc>
              <a:spcAft>
                <a:spcPts val="800"/>
              </a:spcAft>
            </a:pP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פונקציה זו מגדירה טיימר מ-120 שניות</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מעדכנת את הזמן המוצג בכל שנייה</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אם הזמן מגיע לאפס, היא קוראת ל</a:t>
            </a:r>
            <a:r>
              <a:rPr lang="en-US" sz="2400" kern="100" dirty="0">
                <a:effectLst/>
                <a:latin typeface="Aptos" panose="02110004020202020204"/>
                <a:ea typeface="Aptos" panose="02110004020202020204"/>
                <a:cs typeface="Arial" panose="020B0604020202020204" pitchFamily="34" charset="0"/>
              </a:rPr>
              <a:t> </a:t>
            </a:r>
            <a:r>
              <a:rPr lang="en-US" sz="2400" kern="100" dirty="0" err="1">
                <a:effectLst/>
                <a:latin typeface="Aptos" panose="02110004020202020204"/>
                <a:ea typeface="Aptos" panose="02110004020202020204"/>
                <a:cs typeface="Arial" panose="020B0604020202020204" pitchFamily="34" charset="0"/>
              </a:rPr>
              <a:t>endGame</a:t>
            </a:r>
            <a:r>
              <a:rPr lang="en-US" sz="2400" kern="100" dirty="0">
                <a:effectLst/>
                <a:latin typeface="Aptos" panose="02110004020202020204"/>
                <a:ea typeface="Aptos" panose="02110004020202020204"/>
                <a:cs typeface="Arial" panose="020B0604020202020204" pitchFamily="34" charset="0"/>
              </a:rPr>
              <a:t>() </a:t>
            </a:r>
            <a:r>
              <a:rPr lang="he-IL" sz="2400" kern="100" dirty="0">
                <a:effectLst/>
                <a:latin typeface="Aptos" panose="02110004020202020204"/>
                <a:ea typeface="Aptos" panose="02110004020202020204"/>
                <a:cs typeface="Arial" panose="020B0604020202020204" pitchFamily="34" charset="0"/>
              </a:rPr>
              <a:t>ששומר את אורך המשחק ב</a:t>
            </a:r>
            <a:r>
              <a:rPr lang="en-US" sz="2400" kern="100" dirty="0" err="1">
                <a:effectLst/>
                <a:latin typeface="Aptos" panose="02110004020202020204"/>
                <a:ea typeface="Aptos" panose="02110004020202020204"/>
                <a:cs typeface="Arial" panose="020B0604020202020204" pitchFamily="34" charset="0"/>
              </a:rPr>
              <a:t>localStorage</a:t>
            </a: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he-IL" sz="2400" kern="100" dirty="0">
                <a:effectLst/>
                <a:latin typeface="Aptos" panose="02110004020202020204"/>
                <a:ea typeface="Aptos" panose="02110004020202020204"/>
                <a:cs typeface="Arial" panose="020B0604020202020204" pitchFamily="34" charset="0"/>
              </a:rPr>
              <a:t> </a:t>
            </a:r>
            <a:endParaRPr lang="en-US" sz="2400" kern="100" dirty="0">
              <a:effectLst/>
              <a:latin typeface="Aptos" panose="02110004020202020204"/>
              <a:ea typeface="Aptos" panose="02110004020202020204"/>
              <a:cs typeface="Arial" panose="020B0604020202020204" pitchFamily="34" charset="0"/>
            </a:endParaRPr>
          </a:p>
          <a:p>
            <a:pPr>
              <a:lnSpc>
                <a:spcPct val="115000"/>
              </a:lnSpc>
              <a:spcAft>
                <a:spcPts val="800"/>
              </a:spcAft>
            </a:pPr>
            <a:r>
              <a:rPr lang="en-US" sz="2400" kern="100" dirty="0">
                <a:effectLst/>
                <a:latin typeface="Aptos" panose="02110004020202020204"/>
                <a:ea typeface="Aptos" panose="02110004020202020204"/>
                <a:cs typeface="Arial" panose="020B0604020202020204" pitchFamily="34" charset="0"/>
              </a:rPr>
              <a:t> :</a:t>
            </a:r>
            <a:r>
              <a:rPr lang="en-US" sz="2400" b="1" kern="100" dirty="0">
                <a:solidFill>
                  <a:schemeClr val="accent5"/>
                </a:solidFill>
                <a:latin typeface="Aptos" panose="02110004020202020204"/>
                <a:cs typeface="Arial" panose="020B0604020202020204" pitchFamily="34" charset="0"/>
              </a:rPr>
              <a:t>loss()</a:t>
            </a:r>
            <a:r>
              <a:rPr lang="he-IL" sz="2400" kern="100" dirty="0">
                <a:effectLst/>
                <a:latin typeface="Aptos" panose="02110004020202020204"/>
                <a:ea typeface="Aptos" panose="02110004020202020204"/>
                <a:cs typeface="Arial" panose="020B0604020202020204" pitchFamily="34" charset="0"/>
              </a:rPr>
              <a:t>מפנה את המשתמש לדף ההפסדים, אם נגמר הזמן.</a:t>
            </a:r>
            <a:endParaRPr lang="en-US" sz="2400" kern="100" dirty="0">
              <a:effectLst/>
              <a:latin typeface="Aptos" panose="02110004020202020204"/>
              <a:ea typeface="Aptos" panose="02110004020202020204"/>
              <a:cs typeface="Arial" panose="020B0604020202020204" pitchFamily="34" charset="0"/>
            </a:endParaRPr>
          </a:p>
        </p:txBody>
      </p:sp>
    </p:spTree>
    <p:extLst>
      <p:ext uri="{BB962C8B-B14F-4D97-AF65-F5344CB8AC3E}">
        <p14:creationId xmlns:p14="http://schemas.microsoft.com/office/powerpoint/2010/main" val="3277343053"/>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1345BB40-EE4D-3F67-9974-93B16E209887}"/>
              </a:ext>
            </a:extLst>
          </p:cNvPr>
          <p:cNvSpPr/>
          <p:nvPr/>
        </p:nvSpPr>
        <p:spPr>
          <a:xfrm>
            <a:off x="152400" y="0"/>
            <a:ext cx="11887200" cy="6629187"/>
          </a:xfrm>
          <a:prstGeom prst="rect">
            <a:avLst/>
          </a:prstGeom>
          <a:noFill/>
        </p:spPr>
        <p:txBody>
          <a:bodyPr wrap="square" lIns="91440" tIns="45720" rIns="91440" bIns="45720">
            <a:spAutoFit/>
          </a:bodyPr>
          <a:lstStyle/>
          <a:p>
            <a:pPr>
              <a:lnSpc>
                <a:spcPct val="115000"/>
              </a:lnSpc>
              <a:spcAft>
                <a:spcPts val="800"/>
              </a:spcAft>
            </a:pPr>
            <a:r>
              <a:rPr lang="he-IL" sz="2400" kern="100" dirty="0">
                <a:latin typeface="Aptos" panose="02110004020202020204"/>
                <a:ea typeface="Aptos" panose="02110004020202020204"/>
                <a:cs typeface="Arial" panose="020B0604020202020204" pitchFamily="34" charset="0"/>
              </a:rPr>
              <a:t>עבור הרישום:</a:t>
            </a:r>
            <a:br>
              <a:rPr lang="en-US" sz="3200" kern="100" dirty="0">
                <a:latin typeface="Aptos" panose="02110004020202020204"/>
                <a:ea typeface="Aptos" panose="02110004020202020204"/>
                <a:cs typeface="Arial" panose="020B0604020202020204" pitchFamily="34" charset="0"/>
              </a:rPr>
            </a:br>
            <a:r>
              <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Signup .</a:t>
            </a:r>
            <a:r>
              <a:rPr lang="en-US" sz="3200" kern="100" dirty="0" err="1">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Js</a:t>
            </a:r>
            <a:endParaRPr lang="he-IL"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nSpc>
                <a:spcPct val="115000"/>
              </a:lnSpc>
              <a:spcAft>
                <a:spcPts val="800"/>
              </a:spcAft>
            </a:pPr>
            <a:endPar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nSpc>
                <a:spcPct val="115000"/>
              </a:lnSpc>
              <a:spcAft>
                <a:spcPts val="800"/>
              </a:spcAft>
            </a:pPr>
            <a:r>
              <a:rPr lang="en-US" sz="2400" dirty="0"/>
              <a:t> - </a:t>
            </a:r>
            <a:r>
              <a:rPr lang="en-US" sz="2400" b="1" kern="100" dirty="0" err="1">
                <a:solidFill>
                  <a:schemeClr val="accent5"/>
                </a:solidFill>
                <a:latin typeface="Aptos" panose="02110004020202020204"/>
                <a:cs typeface="Arial" panose="020B0604020202020204" pitchFamily="34" charset="0"/>
              </a:rPr>
              <a:t>EventListener</a:t>
            </a:r>
            <a:r>
              <a:rPr lang="en-US" sz="2400" b="1" kern="100" dirty="0">
                <a:solidFill>
                  <a:schemeClr val="accent5"/>
                </a:solidFill>
                <a:latin typeface="Aptos" panose="02110004020202020204"/>
                <a:cs typeface="Arial" panose="020B0604020202020204" pitchFamily="34" charset="0"/>
              </a:rPr>
              <a:t>(submit)</a:t>
            </a:r>
            <a:r>
              <a:rPr lang="he-IL" sz="2400" dirty="0"/>
              <a:t>קורא לפונקציות:</a:t>
            </a:r>
            <a:br>
              <a:rPr lang="en-US" sz="2400" dirty="0"/>
            </a:br>
            <a:r>
              <a:rPr lang="en-US" sz="2400" b="1" kern="100" dirty="0" err="1">
                <a:solidFill>
                  <a:schemeClr val="accent5"/>
                </a:solidFill>
                <a:latin typeface="Aptos" panose="02110004020202020204"/>
                <a:cs typeface="Arial" panose="020B0604020202020204" pitchFamily="34" charset="0"/>
              </a:rPr>
              <a:t>preventDefault</a:t>
            </a:r>
            <a:r>
              <a:rPr lang="en-US" sz="2400" b="1" kern="100" dirty="0">
                <a:solidFill>
                  <a:schemeClr val="accent5"/>
                </a:solidFill>
                <a:latin typeface="Aptos" panose="02110004020202020204"/>
                <a:cs typeface="Arial" panose="020B0604020202020204" pitchFamily="34" charset="0"/>
              </a:rPr>
              <a:t>()</a:t>
            </a:r>
            <a:r>
              <a:rPr lang="he-IL" sz="2400" b="1" kern="100" dirty="0">
                <a:solidFill>
                  <a:schemeClr val="accent5"/>
                </a:solidFill>
                <a:latin typeface="Aptos" panose="02110004020202020204"/>
                <a:cs typeface="Arial" panose="020B0604020202020204" pitchFamily="34" charset="0"/>
              </a:rPr>
              <a:t> </a:t>
            </a:r>
            <a:r>
              <a:rPr lang="he-IL" sz="2400" dirty="0"/>
              <a:t>- מעכב את אירוע ה</a:t>
            </a:r>
            <a:r>
              <a:rPr lang="en-US" sz="2400" dirty="0"/>
              <a:t> submit</a:t>
            </a:r>
            <a:r>
              <a:rPr lang="he-IL" sz="2400" dirty="0"/>
              <a:t>מלקרות אם הנתונים שהוזנו לא תואמים לדרישות.</a:t>
            </a:r>
            <a:br>
              <a:rPr lang="en-US" sz="2400" dirty="0"/>
            </a:br>
            <a:r>
              <a:rPr lang="en-US" sz="2400" b="1" kern="100" dirty="0" err="1">
                <a:solidFill>
                  <a:schemeClr val="accent5"/>
                </a:solidFill>
                <a:latin typeface="Aptos" panose="02110004020202020204"/>
                <a:cs typeface="Arial" panose="020B0604020202020204" pitchFamily="34" charset="0"/>
              </a:rPr>
              <a:t>checkInput</a:t>
            </a:r>
            <a:r>
              <a:rPr lang="en-US" sz="2400" b="1" kern="100" dirty="0">
                <a:solidFill>
                  <a:schemeClr val="accent5"/>
                </a:solidFill>
                <a:latin typeface="Aptos" panose="02110004020202020204"/>
                <a:cs typeface="Arial" panose="020B0604020202020204" pitchFamily="34" charset="0"/>
              </a:rPr>
              <a:t>()</a:t>
            </a:r>
            <a:r>
              <a:rPr lang="he-IL" sz="2400" dirty="0"/>
              <a:t> - אם הנתונים שהוזנו קיימים כבר במערכת מודיע ב</a:t>
            </a:r>
            <a:r>
              <a:rPr lang="en-US" sz="2400" dirty="0"/>
              <a:t>alert</a:t>
            </a:r>
            <a:r>
              <a:rPr lang="he-IL" sz="2400" dirty="0"/>
              <a:t> ומעביר לדף ה</a:t>
            </a:r>
            <a:r>
              <a:rPr lang="en-US" sz="2400" dirty="0"/>
              <a:t>login</a:t>
            </a:r>
            <a:br>
              <a:rPr lang="en-US" sz="2400" dirty="0"/>
            </a:br>
            <a:r>
              <a:rPr lang="he-IL" sz="2400" dirty="0"/>
              <a:t>ואם מדובר במשתמש חדש מודיע ב</a:t>
            </a:r>
            <a:r>
              <a:rPr lang="en-US" sz="2400" dirty="0"/>
              <a:t>alert</a:t>
            </a:r>
            <a:r>
              <a:rPr lang="he-IL" sz="2400" dirty="0"/>
              <a:t> שהפרטים נשמרו ומעביר ל</a:t>
            </a:r>
            <a:r>
              <a:rPr lang="en-US" sz="2400" dirty="0"/>
              <a:t> </a:t>
            </a:r>
            <a:r>
              <a:rPr lang="en-US" sz="2400" b="1" kern="100" dirty="0" err="1">
                <a:solidFill>
                  <a:schemeClr val="accent5"/>
                </a:solidFill>
                <a:latin typeface="Aptos" panose="02110004020202020204"/>
                <a:cs typeface="Arial" panose="020B0604020202020204" pitchFamily="34" charset="0"/>
              </a:rPr>
              <a:t>saveUserData</a:t>
            </a:r>
            <a:r>
              <a:rPr lang="en-US" sz="2400" b="1" kern="100" dirty="0">
                <a:solidFill>
                  <a:schemeClr val="accent5"/>
                </a:solidFill>
                <a:latin typeface="Aptos" panose="02110004020202020204"/>
                <a:cs typeface="Arial" panose="020B0604020202020204" pitchFamily="34" charset="0"/>
              </a:rPr>
              <a:t>()</a:t>
            </a:r>
            <a:r>
              <a:rPr lang="he-IL" sz="2400" dirty="0"/>
              <a:t>.</a:t>
            </a:r>
            <a:br>
              <a:rPr lang="en-US" sz="2400" dirty="0"/>
            </a:br>
            <a:endParaRPr lang="he-IL" sz="2400" dirty="0"/>
          </a:p>
          <a:p>
            <a:pPr>
              <a:lnSpc>
                <a:spcPct val="115000"/>
              </a:lnSpc>
              <a:spcAft>
                <a:spcPts val="800"/>
              </a:spcAft>
            </a:pPr>
            <a:r>
              <a:rPr lang="en-US" sz="2400" b="1" kern="100" dirty="0" err="1">
                <a:solidFill>
                  <a:schemeClr val="accent5"/>
                </a:solidFill>
                <a:latin typeface="Aptos" panose="02110004020202020204"/>
                <a:cs typeface="Arial" panose="020B0604020202020204" pitchFamily="34" charset="0"/>
              </a:rPr>
              <a:t>saveUserData</a:t>
            </a:r>
            <a:r>
              <a:rPr lang="en-US" sz="2400" b="1" kern="100" dirty="0">
                <a:solidFill>
                  <a:schemeClr val="accent5"/>
                </a:solidFill>
                <a:latin typeface="Aptos" panose="02110004020202020204"/>
                <a:cs typeface="Arial" panose="020B0604020202020204" pitchFamily="34" charset="0"/>
              </a:rPr>
              <a:t>()</a:t>
            </a:r>
            <a:r>
              <a:rPr lang="he-IL" sz="2400" b="1" kern="100" dirty="0">
                <a:solidFill>
                  <a:schemeClr val="accent5"/>
                </a:solidFill>
                <a:latin typeface="Aptos" panose="02110004020202020204"/>
                <a:cs typeface="Arial" panose="020B0604020202020204" pitchFamily="34" charset="0"/>
              </a:rPr>
              <a:t> </a:t>
            </a:r>
            <a:r>
              <a:rPr lang="he-IL" sz="2400" dirty="0"/>
              <a:t>- שמירה כאובייקט את הנתונים של הנרשם, שמירת שם הנרשם הנוכחי, הודעה שהשמירה הצליחה וניתוב לדף המשחק.</a:t>
            </a:r>
          </a:p>
          <a:p>
            <a:pPr>
              <a:lnSpc>
                <a:spcPct val="115000"/>
              </a:lnSpc>
              <a:spcAft>
                <a:spcPts val="800"/>
              </a:spcAft>
            </a:pPr>
            <a:endParaRPr lang="en-US" sz="2400" dirty="0"/>
          </a:p>
          <a:p>
            <a:pPr algn="r" rtl="1">
              <a:lnSpc>
                <a:spcPct val="115000"/>
              </a:lnSpc>
              <a:spcAft>
                <a:spcPts val="800"/>
              </a:spcAft>
            </a:pP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en-US" sz="2400" kern="100" dirty="0">
                <a:effectLst/>
                <a:latin typeface="Aptos" panose="02110004020202020204"/>
                <a:ea typeface="Aptos" panose="02110004020202020204"/>
                <a:cs typeface="Arial" panose="020B0604020202020204" pitchFamily="34" charset="0"/>
              </a:rPr>
              <a:t> </a:t>
            </a:r>
          </a:p>
        </p:txBody>
      </p:sp>
    </p:spTree>
    <p:extLst>
      <p:ext uri="{BB962C8B-B14F-4D97-AF65-F5344CB8AC3E}">
        <p14:creationId xmlns:p14="http://schemas.microsoft.com/office/powerpoint/2010/main" val="1639526307"/>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1345BB40-EE4D-3F67-9974-93B16E209887}"/>
              </a:ext>
            </a:extLst>
          </p:cNvPr>
          <p:cNvSpPr/>
          <p:nvPr/>
        </p:nvSpPr>
        <p:spPr>
          <a:xfrm>
            <a:off x="152400" y="0"/>
            <a:ext cx="11887200" cy="6785127"/>
          </a:xfrm>
          <a:prstGeom prst="rect">
            <a:avLst/>
          </a:prstGeom>
          <a:noFill/>
        </p:spPr>
        <p:txBody>
          <a:bodyPr wrap="square" lIns="91440" tIns="45720" rIns="91440" bIns="45720">
            <a:spAutoFit/>
          </a:bodyPr>
          <a:lstStyle/>
          <a:p>
            <a:pPr>
              <a:lnSpc>
                <a:spcPct val="115000"/>
              </a:lnSpc>
              <a:spcAft>
                <a:spcPts val="800"/>
              </a:spcAft>
            </a:pPr>
            <a:r>
              <a:rPr lang="he-IL" sz="2400" kern="100" dirty="0">
                <a:latin typeface="Aptos" panose="02110004020202020204"/>
                <a:ea typeface="Aptos" panose="02110004020202020204"/>
                <a:cs typeface="Arial" panose="020B0604020202020204" pitchFamily="34" charset="0"/>
              </a:rPr>
              <a:t>עבור הכניסה:</a:t>
            </a:r>
            <a:br>
              <a:rPr lang="en-US" sz="3200" kern="100" dirty="0">
                <a:latin typeface="Aptos" panose="02110004020202020204"/>
                <a:ea typeface="Aptos" panose="02110004020202020204"/>
                <a:cs typeface="Arial" panose="020B0604020202020204" pitchFamily="34" charset="0"/>
              </a:rPr>
            </a:br>
            <a:r>
              <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login .</a:t>
            </a:r>
            <a:r>
              <a:rPr lang="en-US" sz="3200" kern="100" dirty="0" err="1">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Js</a:t>
            </a:r>
            <a:endParaRPr lang="he-IL"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nSpc>
                <a:spcPct val="115000"/>
              </a:lnSpc>
              <a:spcAft>
                <a:spcPts val="800"/>
              </a:spcAft>
            </a:pPr>
            <a:endPar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nSpc>
                <a:spcPct val="115000"/>
              </a:lnSpc>
              <a:spcAft>
                <a:spcPts val="800"/>
              </a:spcAft>
            </a:pPr>
            <a:r>
              <a:rPr lang="en-US" sz="2400" dirty="0"/>
              <a:t> </a:t>
            </a:r>
            <a:r>
              <a:rPr lang="en-US" sz="2400" b="1" kern="100" dirty="0">
                <a:solidFill>
                  <a:schemeClr val="accent5"/>
                </a:solidFill>
                <a:latin typeface="Aptos" panose="02110004020202020204"/>
                <a:cs typeface="Arial" panose="020B0604020202020204" pitchFamily="34" charset="0"/>
              </a:rPr>
              <a:t>- </a:t>
            </a:r>
            <a:r>
              <a:rPr lang="en-US" sz="2400" b="1" kern="100" dirty="0" err="1">
                <a:solidFill>
                  <a:schemeClr val="accent5"/>
                </a:solidFill>
                <a:latin typeface="Aptos" panose="02110004020202020204"/>
                <a:cs typeface="Arial" panose="020B0604020202020204" pitchFamily="34" charset="0"/>
              </a:rPr>
              <a:t>EventListener</a:t>
            </a:r>
            <a:r>
              <a:rPr lang="en-US" sz="2400" b="1" kern="100" dirty="0">
                <a:solidFill>
                  <a:schemeClr val="accent5"/>
                </a:solidFill>
                <a:latin typeface="Aptos" panose="02110004020202020204"/>
                <a:cs typeface="Arial" panose="020B0604020202020204" pitchFamily="34" charset="0"/>
              </a:rPr>
              <a:t>(submit)</a:t>
            </a:r>
            <a:r>
              <a:rPr lang="he-IL" sz="2400" dirty="0"/>
              <a:t>קורא לפונקציות:</a:t>
            </a:r>
            <a:br>
              <a:rPr lang="en-US" sz="2400" dirty="0"/>
            </a:br>
            <a:r>
              <a:rPr lang="en-US" sz="2400" b="1" kern="100" dirty="0" err="1">
                <a:solidFill>
                  <a:schemeClr val="accent5"/>
                </a:solidFill>
                <a:latin typeface="Aptos" panose="02110004020202020204"/>
                <a:cs typeface="Arial" panose="020B0604020202020204" pitchFamily="34" charset="0"/>
              </a:rPr>
              <a:t>preventDefault</a:t>
            </a:r>
            <a:r>
              <a:rPr lang="en-US" sz="2400" b="1" kern="100" dirty="0">
                <a:solidFill>
                  <a:schemeClr val="accent5"/>
                </a:solidFill>
                <a:latin typeface="Aptos" panose="02110004020202020204"/>
                <a:cs typeface="Arial" panose="020B0604020202020204" pitchFamily="34" charset="0"/>
              </a:rPr>
              <a:t>()</a:t>
            </a:r>
            <a:r>
              <a:rPr lang="he-IL" sz="2400" b="1" kern="100" dirty="0">
                <a:solidFill>
                  <a:schemeClr val="accent5"/>
                </a:solidFill>
                <a:latin typeface="Aptos" panose="02110004020202020204"/>
                <a:cs typeface="Arial" panose="020B0604020202020204" pitchFamily="34" charset="0"/>
              </a:rPr>
              <a:t> </a:t>
            </a:r>
            <a:r>
              <a:rPr lang="he-IL" sz="2400" dirty="0"/>
              <a:t>- מעכב את אירוע ה</a:t>
            </a:r>
            <a:r>
              <a:rPr lang="en-US" sz="2400" dirty="0"/>
              <a:t> submit</a:t>
            </a:r>
            <a:r>
              <a:rPr lang="he-IL" sz="2400" dirty="0"/>
              <a:t>מלקרות אם הנתונים שהוזנו לא תואמים לדרישות.</a:t>
            </a:r>
            <a:br>
              <a:rPr lang="en-US" sz="2400" dirty="0"/>
            </a:br>
            <a:r>
              <a:rPr lang="en-US" sz="2400" b="1" kern="100" dirty="0" err="1">
                <a:solidFill>
                  <a:schemeClr val="accent5"/>
                </a:solidFill>
                <a:latin typeface="Aptos" panose="02110004020202020204"/>
                <a:cs typeface="Arial" panose="020B0604020202020204" pitchFamily="34" charset="0"/>
              </a:rPr>
              <a:t>CheckUserExist</a:t>
            </a:r>
            <a:r>
              <a:rPr lang="en-US" sz="2400" b="1" kern="100" dirty="0">
                <a:solidFill>
                  <a:schemeClr val="accent5"/>
                </a:solidFill>
                <a:latin typeface="Aptos" panose="02110004020202020204"/>
                <a:cs typeface="Arial" panose="020B0604020202020204" pitchFamily="34" charset="0"/>
              </a:rPr>
              <a:t>()</a:t>
            </a:r>
            <a:r>
              <a:rPr lang="he-IL" sz="2400" b="1" kern="100" dirty="0">
                <a:solidFill>
                  <a:schemeClr val="accent5"/>
                </a:solidFill>
                <a:latin typeface="Aptos" panose="02110004020202020204"/>
                <a:cs typeface="Arial" panose="020B0604020202020204" pitchFamily="34" charset="0"/>
              </a:rPr>
              <a:t> </a:t>
            </a:r>
            <a:r>
              <a:rPr lang="he-IL" sz="2400" dirty="0"/>
              <a:t>- אם הנתונים שהוזנו אינם קיימים במערכת מודיע ב</a:t>
            </a:r>
            <a:r>
              <a:rPr lang="en-US" sz="2400" dirty="0"/>
              <a:t>alert</a:t>
            </a:r>
            <a:r>
              <a:rPr lang="he-IL" sz="2400" dirty="0"/>
              <a:t> ומעביר לדף ה</a:t>
            </a:r>
            <a:r>
              <a:rPr lang="en-US" sz="2400" dirty="0"/>
              <a:t>signup</a:t>
            </a:r>
            <a:br>
              <a:rPr lang="en-US" sz="2400" dirty="0"/>
            </a:br>
            <a:r>
              <a:rPr lang="he-IL" sz="2400" dirty="0"/>
              <a:t>אחרת מעדכן משתמש נוכחי ומעביר לדף המשחק אם המשתמש כבר קיים במאגר.</a:t>
            </a:r>
            <a:br>
              <a:rPr lang="en-US" sz="2400" dirty="0"/>
            </a:br>
            <a:endParaRPr lang="he-IL" sz="2400" dirty="0"/>
          </a:p>
          <a:p>
            <a:r>
              <a:rPr lang="en-US" sz="2400" b="1" kern="100" dirty="0">
                <a:solidFill>
                  <a:schemeClr val="accent5"/>
                </a:solidFill>
                <a:latin typeface="Consolas" panose="020B0609020204030204" pitchFamily="49" charset="0"/>
                <a:cs typeface="Arial" panose="020B0604020202020204" pitchFamily="34" charset="0"/>
              </a:rPr>
              <a:t> </a:t>
            </a:r>
            <a:r>
              <a:rPr lang="en-US" sz="2400" b="1" kern="100" dirty="0">
                <a:solidFill>
                  <a:schemeClr val="accent5"/>
                </a:solidFill>
                <a:latin typeface="Aptos" panose="02110004020202020204"/>
                <a:cs typeface="Arial" panose="020B0604020202020204" pitchFamily="34" charset="0"/>
              </a:rPr>
              <a:t>- </a:t>
            </a:r>
            <a:r>
              <a:rPr lang="en-US" sz="2400" b="1" kern="100" dirty="0" err="1">
                <a:solidFill>
                  <a:schemeClr val="accent5"/>
                </a:solidFill>
                <a:latin typeface="Aptos" panose="02110004020202020204"/>
                <a:cs typeface="Arial" panose="020B0604020202020204" pitchFamily="34" charset="0"/>
              </a:rPr>
              <a:t>focusInput</a:t>
            </a:r>
            <a:r>
              <a:rPr lang="en-US" sz="2400" b="1" kern="100" dirty="0">
                <a:solidFill>
                  <a:schemeClr val="accent5"/>
                </a:solidFill>
                <a:latin typeface="Aptos" panose="02110004020202020204"/>
                <a:cs typeface="Arial" panose="020B0604020202020204" pitchFamily="34" charset="0"/>
              </a:rPr>
              <a:t>() </a:t>
            </a:r>
            <a:r>
              <a:rPr lang="he-IL" sz="2400" dirty="0">
                <a:latin typeface="Consolas" panose="020B0609020204030204" pitchFamily="49" charset="0"/>
              </a:rPr>
              <a:t>לבעת תזוזת עכבר במסך ממקד את העכבר למקום הראשון ב</a:t>
            </a:r>
            <a:r>
              <a:rPr lang="en-US" sz="2400" dirty="0">
                <a:latin typeface="Consolas" panose="020B0609020204030204" pitchFamily="49" charset="0"/>
              </a:rPr>
              <a:t>form</a:t>
            </a:r>
            <a:r>
              <a:rPr lang="he-IL" sz="2400" dirty="0">
                <a:latin typeface="Consolas" panose="020B0609020204030204" pitchFamily="49" charset="0"/>
              </a:rPr>
              <a:t> שריק ואם לא קיים מקום כזה, אז מעביר ל</a:t>
            </a:r>
            <a:r>
              <a:rPr lang="en-US" sz="2400" dirty="0">
                <a:latin typeface="Consolas" panose="020B0609020204030204" pitchFamily="49" charset="0"/>
              </a:rPr>
              <a:t>input</a:t>
            </a:r>
            <a:r>
              <a:rPr lang="he-IL" sz="2400" dirty="0">
                <a:latin typeface="Consolas" panose="020B0609020204030204" pitchFamily="49" charset="0"/>
              </a:rPr>
              <a:t> האחרון. נח לשימוש כאן ולא ברישום משום שכמות הפריטים להשלמה קטן יותר.</a:t>
            </a:r>
            <a:endParaRPr lang="en-US" sz="2400" dirty="0"/>
          </a:p>
          <a:p>
            <a:pPr>
              <a:lnSpc>
                <a:spcPct val="115000"/>
              </a:lnSpc>
              <a:spcAft>
                <a:spcPts val="800"/>
              </a:spcAft>
            </a:pPr>
            <a:endParaRPr lang="he-IL" sz="2400" dirty="0"/>
          </a:p>
          <a:p>
            <a:pPr algn="r" rtl="1">
              <a:lnSpc>
                <a:spcPct val="115000"/>
              </a:lnSpc>
              <a:spcAft>
                <a:spcPts val="800"/>
              </a:spcAft>
            </a:pPr>
            <a:endParaRPr lang="en-US" sz="2400" kern="100" dirty="0">
              <a:effectLst/>
              <a:latin typeface="Aptos" panose="02110004020202020204"/>
              <a:ea typeface="Aptos" panose="02110004020202020204"/>
              <a:cs typeface="Arial" panose="020B0604020202020204" pitchFamily="34" charset="0"/>
            </a:endParaRPr>
          </a:p>
          <a:p>
            <a:pPr algn="r" rtl="1">
              <a:lnSpc>
                <a:spcPct val="115000"/>
              </a:lnSpc>
              <a:spcAft>
                <a:spcPts val="800"/>
              </a:spcAft>
            </a:pPr>
            <a:r>
              <a:rPr lang="en-US" sz="2400" kern="100" dirty="0">
                <a:effectLst/>
                <a:latin typeface="Aptos" panose="02110004020202020204"/>
                <a:ea typeface="Aptos" panose="02110004020202020204"/>
                <a:cs typeface="Arial" panose="020B0604020202020204" pitchFamily="34" charset="0"/>
              </a:rPr>
              <a:t> </a:t>
            </a:r>
          </a:p>
        </p:txBody>
      </p:sp>
    </p:spTree>
    <p:extLst>
      <p:ext uri="{BB962C8B-B14F-4D97-AF65-F5344CB8AC3E}">
        <p14:creationId xmlns:p14="http://schemas.microsoft.com/office/powerpoint/2010/main" val="466988148"/>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1345BB40-EE4D-3F67-9974-93B16E209887}"/>
              </a:ext>
            </a:extLst>
          </p:cNvPr>
          <p:cNvSpPr/>
          <p:nvPr/>
        </p:nvSpPr>
        <p:spPr>
          <a:xfrm>
            <a:off x="152400" y="0"/>
            <a:ext cx="11887200" cy="4275722"/>
          </a:xfrm>
          <a:prstGeom prst="rect">
            <a:avLst/>
          </a:prstGeom>
          <a:noFill/>
        </p:spPr>
        <p:txBody>
          <a:bodyPr wrap="square" lIns="91440" tIns="45720" rIns="91440" bIns="45720">
            <a:spAutoFit/>
          </a:bodyPr>
          <a:lstStyle/>
          <a:p>
            <a:pPr>
              <a:lnSpc>
                <a:spcPct val="115000"/>
              </a:lnSpc>
              <a:spcAft>
                <a:spcPts val="800"/>
              </a:spcAft>
            </a:pPr>
            <a:r>
              <a:rPr lang="he-IL" sz="2400" kern="100" dirty="0">
                <a:latin typeface="Aptos" panose="02110004020202020204"/>
                <a:ea typeface="Aptos" panose="02110004020202020204"/>
                <a:cs typeface="Arial" panose="020B0604020202020204" pitchFamily="34" charset="0"/>
              </a:rPr>
              <a:t>עבור </a:t>
            </a:r>
            <a:r>
              <a:rPr lang="he-IL" sz="2400" kern="100" dirty="0" err="1">
                <a:latin typeface="Aptos" panose="02110004020202020204"/>
                <a:ea typeface="Aptos" panose="02110004020202020204"/>
                <a:cs typeface="Arial" panose="020B0604020202020204" pitchFamily="34" charset="0"/>
              </a:rPr>
              <a:t>הנצחון</a:t>
            </a:r>
            <a:r>
              <a:rPr lang="he-IL" sz="2400" kern="100" dirty="0">
                <a:latin typeface="Aptos" panose="02110004020202020204"/>
                <a:ea typeface="Aptos" panose="02110004020202020204"/>
                <a:cs typeface="Arial" panose="020B0604020202020204" pitchFamily="34" charset="0"/>
              </a:rPr>
              <a:t> וההפסד:</a:t>
            </a:r>
            <a:br>
              <a:rPr lang="en-US" sz="2400" kern="100" dirty="0">
                <a:latin typeface="Aptos" panose="02110004020202020204"/>
                <a:ea typeface="Aptos" panose="02110004020202020204"/>
                <a:cs typeface="Arial" panose="020B0604020202020204" pitchFamily="34" charset="0"/>
              </a:rPr>
            </a:br>
            <a:br>
              <a:rPr lang="en-US" sz="2400" kern="100" dirty="0">
                <a:effectLst/>
                <a:latin typeface="Aptos" panose="02110004020202020204"/>
                <a:ea typeface="Aptos" panose="02110004020202020204"/>
                <a:cs typeface="Arial" panose="020B0604020202020204" pitchFamily="34" charset="0"/>
              </a:rPr>
            </a:br>
            <a:r>
              <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win.js &amp; loss.js</a:t>
            </a:r>
            <a:br>
              <a:rPr lang="en-US" sz="2400" kern="100" dirty="0">
                <a:effectLst/>
                <a:latin typeface="Aptos" panose="02110004020202020204"/>
                <a:ea typeface="Aptos" panose="02110004020202020204"/>
                <a:cs typeface="Arial" panose="020B0604020202020204" pitchFamily="34" charset="0"/>
              </a:rPr>
            </a:br>
            <a:r>
              <a:rPr lang="he-IL" sz="2400" kern="100" dirty="0">
                <a:effectLst/>
                <a:latin typeface="Aptos" panose="02110004020202020204"/>
                <a:ea typeface="Aptos" panose="02110004020202020204"/>
                <a:cs typeface="Arial" panose="020B0604020202020204" pitchFamily="34" charset="0"/>
              </a:rPr>
              <a:t>השמעת </a:t>
            </a:r>
            <a:r>
              <a:rPr lang="he-IL" sz="2400" kern="100" dirty="0">
                <a:latin typeface="Aptos" panose="02110004020202020204"/>
                <a:ea typeface="Aptos" panose="02110004020202020204"/>
                <a:cs typeface="Arial" panose="020B0604020202020204" pitchFamily="34" charset="0"/>
              </a:rPr>
              <a:t>צליל </a:t>
            </a:r>
            <a:r>
              <a:rPr lang="he-IL" sz="2400" kern="100" dirty="0" err="1">
                <a:latin typeface="Aptos" panose="02110004020202020204"/>
                <a:ea typeface="Aptos" panose="02110004020202020204"/>
                <a:cs typeface="Arial" panose="020B0604020202020204" pitchFamily="34" charset="0"/>
              </a:rPr>
              <a:t>נצחון</a:t>
            </a:r>
            <a:r>
              <a:rPr lang="he-IL" sz="2400" kern="100" dirty="0">
                <a:latin typeface="Aptos" panose="02110004020202020204"/>
                <a:ea typeface="Aptos" panose="02110004020202020204"/>
                <a:cs typeface="Arial" panose="020B0604020202020204" pitchFamily="34" charset="0"/>
              </a:rPr>
              <a:t> או הפסד בהתאמה לאחר לחיצה.</a:t>
            </a:r>
            <a:br>
              <a:rPr lang="en-US" sz="2400" kern="100" dirty="0">
                <a:latin typeface="Aptos" panose="02110004020202020204"/>
                <a:ea typeface="Aptos" panose="02110004020202020204"/>
                <a:cs typeface="Arial" panose="020B0604020202020204" pitchFamily="34" charset="0"/>
              </a:rPr>
            </a:br>
            <a:br>
              <a:rPr lang="en-US" sz="2400" kern="100" dirty="0">
                <a:effectLst/>
                <a:latin typeface="Aptos" panose="02110004020202020204"/>
                <a:ea typeface="Aptos" panose="02110004020202020204"/>
                <a:cs typeface="Arial" panose="020B0604020202020204" pitchFamily="34" charset="0"/>
              </a:rPr>
            </a:br>
            <a:r>
              <a:rPr lang="en-US" sz="32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script.js</a:t>
            </a:r>
            <a:br>
              <a:rPr lang="en-US" sz="2400" kern="100" dirty="0">
                <a:effectLst/>
                <a:latin typeface="Aptos" panose="02110004020202020204"/>
                <a:ea typeface="Aptos" panose="02110004020202020204"/>
                <a:cs typeface="Arial" panose="020B0604020202020204" pitchFamily="34" charset="0"/>
              </a:rPr>
            </a:br>
            <a:r>
              <a:rPr lang="he-IL" sz="2400" kern="100" dirty="0">
                <a:effectLst/>
                <a:latin typeface="Aptos" panose="02110004020202020204"/>
                <a:ea typeface="Aptos" panose="02110004020202020204"/>
                <a:cs typeface="Arial" panose="020B0604020202020204" pitchFamily="34" charset="0"/>
              </a:rPr>
              <a:t>הדפסת זמן המשחק.</a:t>
            </a:r>
          </a:p>
          <a:p>
            <a:pPr>
              <a:lnSpc>
                <a:spcPct val="115000"/>
              </a:lnSpc>
              <a:spcAft>
                <a:spcPts val="800"/>
              </a:spcAft>
            </a:pPr>
            <a:r>
              <a:rPr lang="he-IL" sz="2400" kern="100" dirty="0" err="1">
                <a:latin typeface="Aptos" panose="02110004020202020204"/>
                <a:ea typeface="Aptos" panose="02110004020202020204"/>
                <a:cs typeface="Arial" panose="020B0604020202020204" pitchFamily="34" charset="0"/>
              </a:rPr>
              <a:t>פונקצי</a:t>
            </a:r>
            <a:r>
              <a:rPr lang="he-IL" sz="2400" kern="100" dirty="0" err="1">
                <a:latin typeface="Aptos" panose="02110004020202020204"/>
                <a:cs typeface="Arial" panose="020B0604020202020204" pitchFamily="34" charset="0"/>
              </a:rPr>
              <a:t>ת</a:t>
            </a:r>
            <a:r>
              <a:rPr lang="he-IL" sz="2400" b="1" kern="100" dirty="0">
                <a:solidFill>
                  <a:schemeClr val="accent5"/>
                </a:solidFill>
                <a:latin typeface="Aptos" panose="02110004020202020204"/>
                <a:cs typeface="Arial" panose="020B0604020202020204" pitchFamily="34" charset="0"/>
              </a:rPr>
              <a:t> </a:t>
            </a:r>
            <a:r>
              <a:rPr lang="en-US" sz="2400" b="1" kern="100" dirty="0">
                <a:solidFill>
                  <a:schemeClr val="accent5"/>
                </a:solidFill>
                <a:latin typeface="Aptos" panose="02110004020202020204"/>
                <a:cs typeface="Arial" panose="020B0604020202020204" pitchFamily="34" charset="0"/>
              </a:rPr>
              <a:t>back()</a:t>
            </a:r>
            <a:r>
              <a:rPr lang="he-IL" sz="2400" kern="100" dirty="0">
                <a:latin typeface="Aptos" panose="02110004020202020204"/>
                <a:ea typeface="Aptos" panose="02110004020202020204"/>
                <a:cs typeface="Arial" panose="020B0604020202020204" pitchFamily="34" charset="0"/>
              </a:rPr>
              <a:t> לחזרה לדף המשחק</a:t>
            </a:r>
            <a:r>
              <a:rPr lang="en-US" sz="2400" kern="100" dirty="0">
                <a:latin typeface="Aptos" panose="02110004020202020204"/>
                <a:ea typeface="Aptos" panose="02110004020202020204"/>
                <a:cs typeface="Arial" panose="020B0604020202020204" pitchFamily="34" charset="0"/>
              </a:rPr>
              <a:t> </a:t>
            </a:r>
            <a:r>
              <a:rPr lang="he-IL" sz="2400" kern="100" dirty="0">
                <a:latin typeface="Aptos" panose="02110004020202020204"/>
                <a:ea typeface="Aptos" panose="02110004020202020204"/>
                <a:cs typeface="Arial" panose="020B0604020202020204" pitchFamily="34" charset="0"/>
              </a:rPr>
              <a:t>בעת לחיצה על הכפתור.</a:t>
            </a:r>
            <a:br>
              <a:rPr lang="en-US" sz="2400" kern="100" dirty="0">
                <a:effectLst/>
                <a:latin typeface="Aptos" panose="02110004020202020204"/>
                <a:ea typeface="Aptos" panose="02110004020202020204"/>
                <a:cs typeface="Arial" panose="020B0604020202020204" pitchFamily="34" charset="0"/>
              </a:rPr>
            </a:br>
            <a:endParaRPr lang="en-US" sz="2400" kern="100" dirty="0">
              <a:effectLst/>
              <a:latin typeface="Aptos" panose="02110004020202020204"/>
              <a:ea typeface="Aptos" panose="02110004020202020204"/>
              <a:cs typeface="Arial" panose="020B0604020202020204" pitchFamily="34" charset="0"/>
            </a:endParaRPr>
          </a:p>
        </p:txBody>
      </p:sp>
    </p:spTree>
    <p:extLst>
      <p:ext uri="{BB962C8B-B14F-4D97-AF65-F5344CB8AC3E}">
        <p14:creationId xmlns:p14="http://schemas.microsoft.com/office/powerpoint/2010/main" val="1522367891"/>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r="-60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A96A46-F87B-DF50-3336-F63671FEB37E}"/>
              </a:ext>
            </a:extLst>
          </p:cNvPr>
          <p:cNvSpPr>
            <a:spLocks noChangeArrowheads="1"/>
          </p:cNvSpPr>
          <p:nvPr/>
        </p:nvSpPr>
        <p:spPr bwMode="auto">
          <a:xfrm>
            <a:off x="1671484" y="1617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 name="מלבן 1">
            <a:extLst>
              <a:ext uri="{FF2B5EF4-FFF2-40B4-BE49-F238E27FC236}">
                <a16:creationId xmlns:a16="http://schemas.microsoft.com/office/drawing/2014/main" id="{1345BB40-EE4D-3F67-9974-93B16E209887}"/>
              </a:ext>
            </a:extLst>
          </p:cNvPr>
          <p:cNvSpPr/>
          <p:nvPr/>
        </p:nvSpPr>
        <p:spPr>
          <a:xfrm>
            <a:off x="304800" y="586234"/>
            <a:ext cx="11582400" cy="5685531"/>
          </a:xfrm>
          <a:prstGeom prst="rect">
            <a:avLst/>
          </a:prstGeom>
          <a:noFill/>
        </p:spPr>
        <p:txBody>
          <a:bodyPr wrap="square" lIns="91440" tIns="45720" rIns="91440" bIns="45720">
            <a:spAutoFit/>
          </a:bodyPr>
          <a:lstStyle/>
          <a:p>
            <a:pPr algn="ctr" rtl="1">
              <a:lnSpc>
                <a:spcPct val="115000"/>
              </a:lnSpc>
              <a:spcAft>
                <a:spcPts val="800"/>
              </a:spcAft>
            </a:pPr>
            <a:r>
              <a:rPr lang="en-US" sz="96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Memory Game</a:t>
            </a:r>
            <a:br>
              <a:rPr lang="en-US" sz="96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b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by Shira </a:t>
            </a:r>
            <a:r>
              <a:rPr lang="en-US" sz="5400" kern="100" dirty="0" err="1">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Shakarov</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 &amp; </a:t>
            </a:r>
            <a:r>
              <a:rPr lang="en-US" sz="5400" kern="100" dirty="0" err="1">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Leah’le</a:t>
            </a:r>
            <a: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 Abrahams</a:t>
            </a:r>
            <a:br>
              <a:rPr lang="en-US"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br>
            <a:endPar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gn="ctr" rtl="1">
              <a:lnSpc>
                <a:spcPct val="115000"/>
              </a:lnSpc>
              <a:spcAft>
                <a:spcPts val="800"/>
              </a:spcAft>
            </a:pPr>
            <a:endParaRPr lang="he-IL" sz="5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a:p>
            <a:pPr algn="ctr" rtl="1">
              <a:lnSpc>
                <a:spcPct val="115000"/>
              </a:lnSpc>
              <a:spcAft>
                <a:spcPts val="800"/>
              </a:spcAft>
            </a:pPr>
            <a:r>
              <a:rPr lang="he-IL"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להזמנת משחקים חייגו:</a:t>
            </a:r>
            <a:br>
              <a:rPr lang="en-US"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br>
            <a:r>
              <a:rPr lang="he-IL"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rPr>
              <a:t>055-6780900 &amp; 055-6765980 </a:t>
            </a:r>
            <a:endParaRPr lang="en-US" sz="2400" kern="100" dirty="0">
              <a:ln w="9525" cap="flat" cmpd="sng" algn="ctr">
                <a:solidFill>
                  <a:srgbClr val="FFFFFF"/>
                </a:solidFill>
                <a:prstDash val="solid"/>
                <a:round/>
              </a:ln>
              <a:solidFill>
                <a:srgbClr val="A02B93"/>
              </a:solidFill>
              <a:effectLst>
                <a:outerShdw blurRad="12700" dist="38100" dir="2700000" algn="tl">
                  <a:schemeClr val="accent5">
                    <a:lumMod val="60000"/>
                    <a:lumOff val="40000"/>
                  </a:schemeClr>
                </a:outerShdw>
              </a:effectLst>
              <a:latin typeface="Aptos" panose="02110004020202020204"/>
              <a:cs typeface="Arial" panose="020B0604020202020204" pitchFamily="34" charset="0"/>
            </a:endParaRPr>
          </a:p>
        </p:txBody>
      </p:sp>
    </p:spTree>
    <p:extLst>
      <p:ext uri="{BB962C8B-B14F-4D97-AF65-F5344CB8AC3E}">
        <p14:creationId xmlns:p14="http://schemas.microsoft.com/office/powerpoint/2010/main" val="1778132171"/>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806</Words>
  <Application>Microsoft Office PowerPoint</Application>
  <PresentationFormat>מסך רחב</PresentationFormat>
  <Paragraphs>70</Paragraphs>
  <Slides>12</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12</vt:i4>
      </vt:variant>
    </vt:vector>
  </HeadingPairs>
  <TitlesOfParts>
    <vt:vector size="18" baseType="lpstr">
      <vt:lpstr>Aptos</vt:lpstr>
      <vt:lpstr>Aptos Display</vt:lpstr>
      <vt:lpstr>Arial</vt:lpstr>
      <vt:lpstr>Consolas</vt:lpstr>
      <vt:lpstr>Roboto</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אברהמס לאה</dc:creator>
  <cp:lastModifiedBy>אברהמס לאה</cp:lastModifiedBy>
  <cp:revision>25</cp:revision>
  <dcterms:created xsi:type="dcterms:W3CDTF">2025-07-29T10:57:48Z</dcterms:created>
  <dcterms:modified xsi:type="dcterms:W3CDTF">2025-07-29T15:04:25Z</dcterms:modified>
</cp:coreProperties>
</file>